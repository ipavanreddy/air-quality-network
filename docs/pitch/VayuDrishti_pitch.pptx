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VayuDrishti finds pollution before the monitors do and tells the officer who can stop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come from a live run on Vertex AI; they move by a point or two between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DEBDD"/>
                </a:solidFill>
                <a:latin typeface="Calibri"/>
              </a:rPr>
              <a:t>BUILD WITH AI (GOOGLE) · TRACK 2 · CLIMATE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VayuDrishti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Calibri"/>
              </a:rPr>
              <a:t>From a citizen's photo to an officer's action, in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2412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E3EFF1"/>
                </a:solidFill>
                <a:latin typeface="Calibri"/>
              </a:rPr>
              <a:t>Federated, hyper-local air-quality intelligence. Gemini fuses citizen photos, low-cost sensors, satellite and weather data into evidence-backed alerts for the right authority, in English, Hindi and Punjabi.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3EFF1"/>
                </a:solidFill>
                <a:latin typeface="Calibri"/>
              </a:rPr>
              <a:t>Code: https://github.com/ipavanreddy/air-quality-network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3EFF1"/>
                </a:solidFill>
                <a:latin typeface="Calibri"/>
              </a:rPr>
              <a:t>API: https://air-quality-network-api-847963771142.asia-south1.run.app   ·   Apps: Vercel (links in README)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36414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Cities see the average, not the 3 a.m. smoke next door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2011680" cy="384048"/>
          </a:xfrm>
          <a:prstGeom prst="roundRect">
            <a:avLst>
              <a:gd name="adj" fmla="val 3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36414"/>
                </a:solidFill>
                <a:latin typeface="Calibri"/>
              </a:rPr>
              <a:t>Problem fit ·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10512"/>
            <a:ext cx="64008" cy="1773936"/>
          </a:xfrm>
          <a:prstGeom prst="rect">
            <a:avLst/>
          </a:prstGeom>
          <a:solidFill>
            <a:srgbClr val="5B6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B6572"/>
                </a:solidFill>
                <a:latin typeface="Calibri"/>
              </a:rPr>
              <a:t>What officers have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2120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 sparse network of official stations and city-wide averages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Manual complaints that are hard to verify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Enforcement after pollution has peaked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Little coordination when smoke crosses state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10512"/>
            <a:ext cx="64008" cy="1773936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5564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36414"/>
                </a:solidFill>
                <a:latin typeface="Calibri"/>
              </a:rPr>
              <a:t>What already exists, but disconnected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50292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Citizens with phones who see smoke, burning and dust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Low-cost community sensors (uncalibrated)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Satellites: fires, NO2, aerosols. Weather: wind, humidity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11064240" cy="1005840"/>
          </a:xfrm>
          <a:prstGeom prst="roundRect">
            <a:avLst>
              <a:gd name="adj" fmla="val 3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“The station 6 km away reads ‘Poor’. Beside the industrial estate, residents breathe far worse air at 3 a.m., and nobody is alerted.”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109728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572"/>
                </a:solidFill>
                <a:latin typeface="Calibri"/>
              </a:rPr>
              <a:t>•  Result: undetected sources, badly targeted inspections, no early warning, direct harm to public health.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VayuDrishti · Build with AI (Google) · Track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36414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One polished journey: evidence in, approved action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2011680" cy="384048"/>
          </a:xfrm>
          <a:prstGeom prst="roundRect">
            <a:avLst>
              <a:gd name="adj" fmla="val 3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36414"/>
                </a:solidFill>
                <a:latin typeface="Calibri"/>
              </a:rPr>
              <a:t>Problem fit ·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691640" cy="1097280"/>
          </a:xfrm>
          <a:prstGeom prst="roundRect">
            <a:avLst>
              <a:gd name="adj" fmla="val 30000"/>
            </a:avLst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Citizen photo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 voice note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40280" y="2377440"/>
            <a:ext cx="182880" cy="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23160" y="1828800"/>
            <a:ext cx="1691640" cy="1097280"/>
          </a:xfrm>
          <a:prstGeom prst="roundRect">
            <a:avLst>
              <a:gd name="adj" fmla="val 3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Gemini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verification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2377440"/>
            <a:ext cx="182880" cy="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97680" y="1828800"/>
            <a:ext cx="1691640" cy="1097280"/>
          </a:xfrm>
          <a:prstGeom prst="roundRect">
            <a:avLst>
              <a:gd name="adj" fmla="val 3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Sensors + satellite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 weather on grid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9320" y="2377440"/>
            <a:ext cx="182880" cy="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200" y="1828800"/>
            <a:ext cx="1691640" cy="1097280"/>
          </a:xfrm>
          <a:prstGeom prst="roundRect">
            <a:avLst>
              <a:gd name="adj" fmla="val 3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Hotspot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2377440"/>
            <a:ext cx="182880" cy="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46720" y="1828800"/>
            <a:ext cx="1691640" cy="1097280"/>
          </a:xfrm>
          <a:prstGeom prst="roundRect">
            <a:avLst>
              <a:gd name="adj" fmla="val 3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Likely source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 action brief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38360" y="2377440"/>
            <a:ext cx="182880" cy="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921240" y="1828800"/>
            <a:ext cx="1691640" cy="1097280"/>
          </a:xfrm>
          <a:prstGeom prst="roundRect">
            <a:avLst>
              <a:gd name="adj" fmla="val 3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Officer alert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(human approval)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3246120"/>
            <a:ext cx="2743200" cy="731520"/>
          </a:xfrm>
          <a:prstGeom prst="roundRect">
            <a:avLst>
              <a:gd name="adj" fmla="val 30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0F4C5C"/>
                </a:solidFill>
                <a:latin typeface="Calibri"/>
              </a:rPr>
              <a:t>72 h corridor forecast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46120"/>
            <a:ext cx="3017520" cy="731520"/>
          </a:xfrm>
          <a:prstGeom prst="roundRect">
            <a:avLst>
              <a:gd name="adj" fmla="val 30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0F4C5C"/>
                </a:solidFill>
                <a:latin typeface="Calibri"/>
              </a:rPr>
              <a:t>Voice advisory: en · हिन्दी · ਪੰਜਾਬੀ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3246120"/>
            <a:ext cx="2194560" cy="731520"/>
          </a:xfrm>
          <a:prstGeom prst="roundRect">
            <a:avLst>
              <a:gd name="adj" fmla="val 30000"/>
            </a:avLst>
          </a:prstGeom>
          <a:solidFill>
            <a:srgbClr val="E2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D6A4F"/>
                </a:solidFill>
                <a:latin typeface="Calibri"/>
              </a:rPr>
              <a:t>Cross-boundary alert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07992"/>
            <a:ext cx="64008" cy="145389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5312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Citizen Reporter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329184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Photo, voice or typed report with a Maps-confirmed location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Instant AI verdict and status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Local forecast and spoken advisories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34340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4507992"/>
            <a:ext cx="64008" cy="145389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45312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Environmental Officer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892040"/>
            <a:ext cx="329184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1 km hotspot map and alert inbox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Evidence, likely source, recommended inspection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Approve → record action → close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34340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E2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4507992"/>
            <a:ext cx="64008" cy="145389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45312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D6A4F"/>
                </a:solidFill>
                <a:latin typeface="Calibri"/>
              </a:rPr>
              <a:t>Neighbouring states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92040"/>
            <a:ext cx="329184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Same canonical schema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Shared, fine-tuned models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Officer-approved cross-boundary alerts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VayuDrishti · Build with AI (Google) · Track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36414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What the live demo shows (5 minutes)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822960" cy="502920"/>
          </a:xfrm>
          <a:prstGeom prst="roundRect">
            <a:avLst>
              <a:gd name="adj" fmla="val 30000"/>
            </a:avLst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4592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Citizen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664208"/>
            <a:ext cx="79552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Hindi voice note → Speech-to-Text; Gemini: industrial emission, severity 4/5, ~90 %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58568"/>
            <a:ext cx="822960" cy="502920"/>
          </a:xfrm>
          <a:prstGeom prst="roundRect">
            <a:avLst>
              <a:gd name="adj" fmla="val 30000"/>
            </a:avLst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1:10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04288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Evidence 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322576"/>
            <a:ext cx="79552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Hotspot Confidence 66 → about 80 (threshold 70): sensor 35 · satellite 25 · citizen 25 · weather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16936"/>
            <a:ext cx="822960" cy="502920"/>
          </a:xfrm>
          <a:prstGeom prst="roundRect">
            <a:avLst>
              <a:gd name="adj" fmla="val 30000"/>
            </a:avLst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1:50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62656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Action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980944"/>
            <a:ext cx="79552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Likely source + evidence with source/time + recommended inspection + uncertainties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75304"/>
            <a:ext cx="822960" cy="502920"/>
          </a:xfrm>
          <a:prstGeom prst="roundRect">
            <a:avLst>
              <a:gd name="adj" fmla="val 30000"/>
            </a:avLst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21024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639312"/>
            <a:ext cx="79552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Now / +24 / +48 / +72 h slider, range and drivers, model vs persistence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33672"/>
            <a:ext cx="822960" cy="502920"/>
          </a:xfrm>
          <a:prstGeom prst="roundRect">
            <a:avLst>
              <a:gd name="adj" fmla="val 30000"/>
            </a:avLst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79392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Officer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297680"/>
            <a:ext cx="79552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Alert in ≤ 5 s → acknowledge &amp; approve → record action → close; audit trail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92040"/>
            <a:ext cx="822960" cy="502920"/>
          </a:xfrm>
          <a:prstGeom prst="roundRect">
            <a:avLst>
              <a:gd name="adj" fmla="val 30000"/>
            </a:avLst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3:30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93776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Advisory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956048"/>
            <a:ext cx="79552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Gemini draft → Cloud Translation → Text-to-Speech in Punjabi, after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50408"/>
            <a:ext cx="822960" cy="502920"/>
          </a:xfrm>
          <a:prstGeom prst="roundRect">
            <a:avLst>
              <a:gd name="adj" fmla="val 30000"/>
            </a:avLst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3:50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596128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Interoperability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614416"/>
            <a:ext cx="79552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Punjab stubble fire → cross-boundary alert to Delhi; shared model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VayuDrishti · Build with AI (Google) · Track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36414"/>
                </a:solidFill>
                <a:latin typeface="Calibri"/>
              </a:rPr>
              <a:t>AI &amp; TECHNICAL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Gemini does real work, and is kept honest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2011680" cy="384048"/>
          </a:xfrm>
          <a:prstGeom prst="roundRect">
            <a:avLst>
              <a:gd name="adj" fmla="val 3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36414"/>
                </a:solidFill>
                <a:latin typeface="Calibri"/>
              </a:rPr>
              <a:t>AI / tech · 25%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10512"/>
            <a:ext cx="64008" cy="191109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Multimodal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918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Gemini 2.5 Flash on Vertex AI reads the photo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Event yes/no, source type, severity, indicators, confidence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Irrelevant or poor images are flagged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10512"/>
            <a:ext cx="64008" cy="191109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5564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Grounded action briefs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2918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Input: only the structured evidence bundle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Actions limited to each jurisdiction's rules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Any number not in the data is flagged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10512"/>
            <a:ext cx="64008" cy="191109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5564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Language and 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2918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Gemini advisory → Cloud Translation (hi, pa)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Text-to-Speech playback, Speech-to-Text notes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Maps Geocoding confirms the location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6908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33672"/>
            <a:ext cx="64008" cy="1773936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78808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36414"/>
                </a:solidFill>
                <a:latin typeface="Calibri"/>
              </a:rPr>
              <a:t>Transparent scoring, not a black 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52120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Hotspot Confidence = sensor anomaly 35 + satellite 25 + citizen 25 + weather plausibility 15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κ-Köhler humidity calibration on low-cost sensors (kept as indicative)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Per-horizon forecast model, backtested against persistence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069080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E2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4233672"/>
            <a:ext cx="64008" cy="177393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1788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D6A4F"/>
                </a:solidFill>
                <a:latin typeface="Calibri"/>
              </a:rPr>
              <a:t>Structured AI 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617720"/>
            <a:ext cx="50292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Versioned prompts + JSON schemas (ai/prompts, ai/schemas)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model_name, model_version, prompt_version on every AI record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Retries, low temperature, labelled fallback when AI is unavailable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VayuDrishti · Build with AI (Google) · Track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36414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Cloud-native and API-first on Google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2011680" cy="384048"/>
          </a:xfrm>
          <a:prstGeom prst="roundRect">
            <a:avLst>
              <a:gd name="adj" fmla="val 3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36414"/>
                </a:solidFill>
                <a:latin typeface="Calibri"/>
              </a:rPr>
              <a:t>Deployability ·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651760" cy="914400"/>
          </a:xfrm>
          <a:prstGeom prst="roundRect">
            <a:avLst>
              <a:gd name="adj" fmla="val 30000"/>
            </a:avLst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Citizen app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Next.js · Vercel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2651760" cy="914400"/>
          </a:xfrm>
          <a:prstGeom prst="roundRect">
            <a:avLst>
              <a:gd name="adj" fmla="val 30000"/>
            </a:avLst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Officer dashboard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Next.js · Vercel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554480"/>
            <a:ext cx="3931920" cy="4480560"/>
          </a:xfrm>
          <a:prstGeom prst="roundRect">
            <a:avLst>
              <a:gd name="adj" fmla="val 5000"/>
            </a:avLst>
          </a:prstGeom>
          <a:solidFill>
            <a:srgbClr val="E3EFF1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64592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4C5C"/>
                </a:solidFill>
                <a:latin typeface="Calibri"/>
              </a:rPr>
              <a:t>Cloud Run · FastAPI (asia-south1)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148840"/>
            <a:ext cx="34747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reports + AI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2606040"/>
            <a:ext cx="34747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sensors + calibration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3063240"/>
            <a:ext cx="34747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geospatial (Earth Engine → H3)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3520440"/>
            <a:ext cx="34747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hotspots + confidence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3977640"/>
            <a:ext cx="34747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forecasting + model registry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4434840"/>
            <a:ext cx="34747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alerts + cross-boundary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4892040"/>
            <a:ext cx="34747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localization (voice, translation)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5349240"/>
            <a:ext cx="34747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interop: adapters + canonical schema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645920"/>
            <a:ext cx="3108960" cy="566928"/>
          </a:xfrm>
          <a:prstGeom prst="roundRect">
            <a:avLst>
              <a:gd name="adj" fmla="val 3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Gemini 2.5 Flash · Vertex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377440"/>
            <a:ext cx="3108960" cy="566928"/>
          </a:xfrm>
          <a:prstGeom prst="roundRect">
            <a:avLst>
              <a:gd name="adj" fmla="val 3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Translation · TTS · STT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108960"/>
            <a:ext cx="3108960" cy="566928"/>
          </a:xfrm>
          <a:prstGeom prst="roundRect">
            <a:avLst>
              <a:gd name="adj" fmla="val 3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Maps Geocoding + JS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3840480"/>
            <a:ext cx="3108960" cy="566928"/>
          </a:xfrm>
          <a:prstGeom prst="roundRect">
            <a:avLst>
              <a:gd name="adj" fmla="val 3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BigQuery · Cloud Storage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4572000"/>
            <a:ext cx="3108960" cy="566928"/>
          </a:xfrm>
          <a:prstGeom prst="roundRect">
            <a:avLst>
              <a:gd name="adj" fmla="val 30000"/>
            </a:avLst>
          </a:prstGeom>
          <a:solidFill>
            <a:srgbClr val="5B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Earth Engine (wired)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5303520"/>
            <a:ext cx="3108960" cy="566928"/>
          </a:xfrm>
          <a:prstGeom prst="roundRect">
            <a:avLst>
              <a:gd name="adj" fmla="val 30000"/>
            </a:avLst>
          </a:prstGeom>
          <a:solidFill>
            <a:srgbClr val="5B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Secret Manager · Cloud Build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00400" y="2194560"/>
            <a:ext cx="640080" cy="45720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00400" y="3474720"/>
            <a:ext cx="640080" cy="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3749039"/>
            <a:ext cx="731520" cy="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4297680"/>
            <a:ext cx="31089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572"/>
                </a:solidFill>
                <a:latin typeface="Calibri"/>
              </a:rPr>
              <a:t>Adapters (JSON):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572"/>
                </a:solidFill>
                <a:latin typeface="Calibri"/>
              </a:rPr>
              <a:t>Delhi NCR · Punjab · Maharashtra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572"/>
                </a:solidFill>
                <a:latin typeface="Calibri"/>
              </a:rPr>
              <a:t>→ canonical schema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VayuDrishti · Build with AI (Google) · Track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36414"/>
                </a:solidFill>
                <a:latin typeface="Calibri"/>
              </a:rPr>
              <a:t>TRUST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Built for officers who must defend every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2011680" cy="384048"/>
          </a:xfrm>
          <a:prstGeom prst="roundRect">
            <a:avLst>
              <a:gd name="adj" fmla="val 3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36414"/>
                </a:solidFill>
                <a:latin typeface="Calibri"/>
              </a:rPr>
              <a:t>AI / tech · 25%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10512"/>
            <a:ext cx="64008" cy="177393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Human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918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Alerts start as pending review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Officer approves actions, transfers and advisories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Full audit trail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10512"/>
            <a:ext cx="64008" cy="177393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5564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Evidence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2918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Observed data → AI interpretation → recommendation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Source + timestamp on every signal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Data freshness and uncertainties shown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10512"/>
            <a:ext cx="64008" cy="177393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5564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Careful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2918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“Likely source” and “recommended inspection”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 named companies, farms or people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Low-cost sensors labelled indicative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11064240" cy="21031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42231"/>
            <a:ext cx="64008" cy="1773936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87367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36414"/>
                </a:solidFill>
                <a:latin typeface="Calibri"/>
              </a:rPr>
              <a:t>Honest demo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79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Every integration reports real / demo / fallback at /api/config, shown as a badge in both apps.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In production: live Gemini, Translation, TTS, STT, Maps, BigQuery and Cloud Storage. Earth Engine, CPCB and sensor feeds run on clearly labelled sample data until credentials arrive.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Pseudonymous reporters; the photo store is separate from public views.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VayuDrishti · Build with AI (Google) · Track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36414"/>
                </a:solidFill>
                <a:latin typeface="Calibri"/>
              </a:rPr>
              <a:t>DEPTH &amp; REACH ACROSS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Three states, three problems, one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2011680" cy="384048"/>
          </a:xfrm>
          <a:prstGeom prst="roundRect">
            <a:avLst>
              <a:gd name="adj" fmla="val 3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36414"/>
                </a:solidFill>
                <a:latin typeface="Calibri"/>
              </a:rPr>
              <a:t>Depth &amp; reach ·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10512"/>
            <a:ext cx="64008" cy="20482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Delhi NCR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918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Industrial + traffic smog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Threshold 70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Shared IGP smog model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Hindi + English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4592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810512"/>
            <a:ext cx="64008" cy="2048256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75564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36414"/>
                </a:solidFill>
                <a:latin typeface="Calibri"/>
              </a:rPr>
              <a:t>Punjab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194560"/>
            <a:ext cx="32918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Crop-residue burning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~40 upwind fires (FIRMS)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Cross-boundary → Delhi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Punjabi + Hindi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164592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E2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8" y="1810512"/>
            <a:ext cx="64008" cy="204825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8" y="175564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D6A4F"/>
                </a:solidFill>
                <a:latin typeface="Calibri"/>
              </a:rPr>
              <a:t>Maharashtra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8" y="2194560"/>
            <a:ext cx="32918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Construction dust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Threshold 65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Persistence baseline model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Different feed format (UTC)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Satellite and weather layers (Sentinel-5P, FIRMS, MODIS MAIAC, ERA5-Land, GFS) cover every Indian district from day one, before any local sensor is connected.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Three languages today (English, हिन्दी, ਪੰਜਾਬੀ). Adding a language is a translation target and a voice locale.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H3 grid at ~1 km: the same cell ids work for any city, so evidence and models travel.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VayuDrishti · Build with AI (Google) · Track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36414"/>
                </a:solidFill>
                <a:latin typeface="Calibri"/>
              </a:rPr>
              <a:t>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Federated by design: share models, not raw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2011680" cy="384048"/>
          </a:xfrm>
          <a:prstGeom prst="roundRect">
            <a:avLst>
              <a:gd name="adj" fmla="val 3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36414"/>
                </a:solidFill>
                <a:latin typeface="Calibri"/>
              </a:rPr>
              <a:t>Depth &amp; reach ·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017520" cy="822960"/>
          </a:xfrm>
          <a:prstGeom prst="roundRect">
            <a:avLst>
              <a:gd name="adj" fmla="val 30000"/>
            </a:avLst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Punjab feed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device · time_ist · PM2_5 · HUM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3017520" cy="822960"/>
          </a:xfrm>
          <a:prstGeom prst="roundRect">
            <a:avLst>
              <a:gd name="adj" fmla="val 3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Delhi feed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sensor_id · ts · pm25 · rh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3017520" cy="822960"/>
          </a:xfrm>
          <a:prstGeom prst="roundRect">
            <a:avLst>
              <a:gd name="adj" fmla="val 3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Maharashtra feed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id · timestamp_utc · pm2_5_ugm3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743200"/>
            <a:ext cx="2377440" cy="82296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State adapters</a:t>
            </a:r>
          </a:p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(field map + time zone)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743200"/>
            <a:ext cx="2103120" cy="822960"/>
          </a:xfrm>
          <a:prstGeom prst="roundRect">
            <a:avLst>
              <a:gd name="adj" fmla="val 3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Canonical cell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snapshot schema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66160" y="2148840"/>
            <a:ext cx="640080" cy="100584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566160" y="3154680"/>
            <a:ext cx="640080" cy="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566160" y="3154680"/>
            <a:ext cx="640080" cy="100584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3154680"/>
            <a:ext cx="640080" cy="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09760" y="1737360"/>
            <a:ext cx="2103120" cy="2834640"/>
          </a:xfrm>
          <a:prstGeom prst="roundRect">
            <a:avLst>
              <a:gd name="adj" fmla="val 8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1901952"/>
            <a:ext cx="64008" cy="250545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847088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Shared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286000"/>
            <a:ext cx="18288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Hotspot scoring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AI verification + briefs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Forecast model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Alert exchange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010912"/>
            <a:ext cx="64008" cy="1042416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56048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36414"/>
                </a:solidFill>
                <a:latin typeface="Calibri"/>
              </a:rPr>
              <a:t>Shared model with a model 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igp-smog-forecast-v1: pooled on Delhi NCR + Punjab, fine-tuned per state, MAE vs persistence published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84632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E2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5010912"/>
            <a:ext cx="64008" cy="104241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95604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D6A4F"/>
                </a:solidFill>
                <a:latin typeface="Calibri"/>
              </a:rPr>
              <a:t>Cross-boundary 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394960"/>
            <a:ext cx="5029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Punjab officer approves → Delhi NCR inbox receives it with ETA and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VayuDrishti · Build with AI (Google) · Track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36414"/>
                </a:solidFill>
                <a:latin typeface="Calibri"/>
              </a:rPr>
              <a:t>DEPLOYABILITY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Deployable today, scalable by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2011680" cy="384048"/>
          </a:xfrm>
          <a:prstGeom prst="roundRect">
            <a:avLst>
              <a:gd name="adj" fmla="val 3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36414"/>
                </a:solidFill>
                <a:latin typeface="Calibri"/>
              </a:rPr>
              <a:t>Deployability ·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10512"/>
            <a:ext cx="64008" cy="195681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Running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1206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API on Cloud Run (asia-south1) with a least-privilege service account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Two Next.js apps on Vercel, each builds on its own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Keys in Secret Manager; one-command deploy script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BigQuery analytics mirror, Cloud Storage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E2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10512"/>
            <a:ext cx="64008" cy="195681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55648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D6A4F"/>
                </a:solidFill>
                <a:latin typeface="Calibri"/>
              </a:rPr>
              <a:t>Onboarding a new state = one JSON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51206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Jurisdiction, threshold, languages, action rules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Sensor field map → canonical schema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Pick or fine-tune a shared model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Declare downwind neighbours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2560320" cy="548640"/>
          </a:xfrm>
          <a:prstGeom prst="roundRect">
            <a:avLst>
              <a:gd name="adj" fmla="val 3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Hackathon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B6572"/>
                </a:solidFill>
                <a:latin typeface="Calibri"/>
              </a:rPr>
              <a:t>3 states · 1 corridor · 3 languages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4572000"/>
            <a:ext cx="274320" cy="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83280" y="4297680"/>
            <a:ext cx="2560320" cy="54864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0F4C5C"/>
                </a:solidFill>
                <a:latin typeface="Calibri"/>
              </a:rPr>
              <a:t>City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93776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B6572"/>
                </a:solidFill>
                <a:latin typeface="Calibri"/>
              </a:rPr>
              <a:t>10–20 co-located sensors · field teams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0" y="4572000"/>
            <a:ext cx="274320" cy="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7920" y="4297680"/>
            <a:ext cx="2560320" cy="54864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0F4C5C"/>
                </a:solidFill>
                <a:latin typeface="Calibri"/>
              </a:rPr>
              <a:t>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93776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B6572"/>
                </a:solidFill>
                <a:latin typeface="Calibri"/>
              </a:rPr>
              <a:t>many cities · state models · more languages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78240" y="4572000"/>
            <a:ext cx="274320" cy="0"/>
          </a:xfrm>
          <a:prstGeom prst="line">
            <a:avLst/>
          </a:prstGeom>
          <a:ln w="25400">
            <a:solidFill>
              <a:srgbClr val="5B65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52560" y="4297680"/>
            <a:ext cx="2560320" cy="54864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0F4C5C"/>
                </a:solidFill>
                <a:latin typeface="Calibri"/>
              </a:rPr>
              <a:t>National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93776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B6572"/>
                </a:solidFill>
                <a:latin typeface="Calibri"/>
              </a:rPr>
              <a:t>shared registry · federated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572"/>
                </a:solidFill>
                <a:latin typeface="Calibri"/>
              </a:rPr>
              <a:t>Next scaling step: move the operational store to Firestore (already wired) and run many API instances.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VayuDrishti · Build with AI (Google) · Track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36414"/>
                </a:solidFill>
                <a:latin typeface="Calibri"/>
              </a:rPr>
              <a:t>IMPACT &amp; PORTABILITY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Impact where air is worst, and portable beyond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2011680" cy="384048"/>
          </a:xfrm>
          <a:prstGeom prst="roundRect">
            <a:avLst>
              <a:gd name="adj" fmla="val 3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36414"/>
                </a:solidFill>
                <a:latin typeface="Calibri"/>
              </a:rPr>
              <a:t>Impact · 15%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86400" cy="2651760"/>
          </a:xfrm>
          <a:prstGeom prst="roundRect">
            <a:avLst>
              <a:gd name="adj" fmla="val 8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10512"/>
            <a:ext cx="64008" cy="232257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Impact in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21208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Targets urban and peri-urban people in the most polluted corridors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Faster, better-targeted inspections from verified evidence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24–72 h warning for sensitive groups, in their language and by voice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Coordinated action on transboundary smoke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303520" cy="26517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10512"/>
            <a:ext cx="64008" cy="2322576"/>
          </a:xfrm>
          <a:prstGeom prst="rect">
            <a:avLst/>
          </a:prstGeom>
          <a:solidFill>
            <a:srgbClr val="5B6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5564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B6572"/>
                </a:solidFill>
                <a:latin typeface="Calibri"/>
              </a:rPr>
              <a:t>How we would measure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50292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Time from first report to officer action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Share of alerts confirmed on inspection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PM2.5 change after intervention (action effectiveness)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Advisory reach by 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26280"/>
            <a:ext cx="11064240" cy="169164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690872"/>
            <a:ext cx="64008" cy="1362456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36008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36414"/>
                </a:solidFill>
                <a:latin typeface="Calibri"/>
              </a:rPr>
              <a:t>Cross-border / BRICS portability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1078992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Nothing is India-specific in the core: H3 grid, global satellite and reanalysis layers, a canonical schema and per-jurisdiction adapters. A partner city adds an adapter, its AQI breakpoints, languages and action rules, and can reuse or fine-tune shared models. It can exchange transboundary alerts without sharing raw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VayuDrishti · Build with AI (Google) · Track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36414"/>
                </a:solidFill>
                <a:latin typeface="Calibri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Status, next steps, and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657600" cy="3017520"/>
          </a:xfrm>
          <a:prstGeom prst="roundRect">
            <a:avLst>
              <a:gd name="adj" fmla="val 8000"/>
            </a:avLst>
          </a:prstGeom>
          <a:solidFill>
            <a:srgbClr val="E2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64008" cy="268833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D6A4F"/>
                </a:solidFill>
                <a:latin typeface="Calibri"/>
              </a:rPr>
              <a:t>Live in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3832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Gemini 2.5 Flash (Vertex AI)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Translation · Text-to-Speech · Speech-to-Text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Maps Geocoding + JS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BigQuery · Cloud Storage · Cloud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657600" cy="30175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10512"/>
            <a:ext cx="64008" cy="2688336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55648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36414"/>
                </a:solidFill>
                <a:latin typeface="Calibri"/>
              </a:rPr>
              <a:t>Labelled sample, adapter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3832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Earth Engine layers (registration pending)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CPCB station feed (API key)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Community sensor feeds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Firestore, Vertex AI Model Registry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810512"/>
            <a:ext cx="64008" cy="2688336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55648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4C5C"/>
                </a:solidFill>
                <a:latin typeface="Calibri"/>
              </a:rPr>
              <a:t>Next 90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94560"/>
            <a:ext cx="31089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City pilot with a clean-air cell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Co-locate sensors for calibration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Officer login + SMS alerts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Action-effectiveness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F4C5C"/>
                </a:solidFill>
                <a:latin typeface="Calibri"/>
              </a:rPr>
              <a:t>Code: https://github.com/ipavanreddy/air-quality-network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F4C5C"/>
                </a:solidFill>
                <a:latin typeface="Calibri"/>
              </a:rPr>
              <a:t>API: https://air-quality-network-api-847963771142.asia-south1.run.app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F4C5C"/>
                </a:solidFill>
                <a:latin typeface="Calibri"/>
              </a:rPr>
              <a:t>Citizen app and officer dashboard: Vercel (URLs in README)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VayuDrishti · Build with AI (Google) · Track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5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