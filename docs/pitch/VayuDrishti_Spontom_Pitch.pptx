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VayuDrishti means 'air vision'. It turns a citizen's photo of smoke into an evidence-backed, officer-approved action. Gemini checks the photo, the platform fuses it with sensor, satellite and weather signals on a one-kilometre grid, and the responsible pollution-control officer receives a transparent score, a likely source and a recommended inspection. The image is a real screenshot of our officer dashboard running on labelled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stations give a reliable city-level picture, but a station about five kilometres away cannot see smoke from one industrial estate at 3 a.m. In our demo scenario the local cell reads 249 micrograms against 112 at the station, yet its Hotspot Confidence is 66, just under Delhi's threshold of 70, so no one is alerted. The signals that would reveal the event exist but sit in separate systems. The result is reactive enforcement and poorly targeted inspections. These figures come from our labelled sample data, not real CPCB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has three moves. First, see: every signal lands on the same one-kilometre hexagon grid. Second, score and brief: a transparent weighted score decides whether this is a hotspot, and Gemini drafts a likely source and inspection using only the jurisdiction's own action rules. Third, a human decides. On the right is a real brief Gemini produced in our deployed API for a Punjab crop-burning hotspot, including its own statement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loop. A citizen reports by photo and voice, Gemini verifies the photo, and the platform fuses it with sensor, satellite and weather evidence. The score is a transparent weighted sum you can inspect factor by factor. Above the threshold, an alert reaches the officer for that jurisdiction; if the smoke is heading into another state, the officer can approve a cross-boundary alert. The weights and thresholds are defaults we expect to calibrate during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user is the environmental officer at a State Pollution Control Board or municipal clean-air cell, with few field staff and a duty to justify every action with evidence. Around her are citizens who report and receive advisories, field teams who inspect, neighbouring state boards who need warning of incoming smoke, and oversight bodies such as CAQM. Each constraint maps to a design response: ranked briefs for scarce staff, three languages with voice, and visible data freshness when some signals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demo scenario. Before the report, the local cell scores 66 and the inbox is empty. A resident reports in Hindi by voice with a photo of a chimney; Gemini classifies it as an industrial emission, severity four of five. The score jumps to 83, with every factor visible, and the alert reaches the Delhi Pollution Control Committee demo inbox. The officer approves a night-time inspection, records the action and closes the alert, and an approved advisory is read aloud in Hindi or Punjabi.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replacing any of these. CPCB stations remain the regulatory reference, SAFAR and IITM provide city-scale forecasts, and GRAP drives region-wide measures in Delhi NCR. What is missing is a workflow that takes a local, citizen-reported event, verifies it against independent evidence and puts a located inspection in front of the right officer. Our honest limit: the platform's accuracy has only been shown on sample data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five layers. Citizens report through a web app with voice and three languages. State adapters map differently formatted sensor feeds into one canonical schema, with a humidity correction for low-cost sensors. Everything lands on an H3 grid, and Gemini is used as a bounded decision layer: it sees only the evidence bundle, may only recommend the jurisdiction's configured actions, and any number it cites is checked. Gemini, Translation, speech, Maps, BigQuery and Cloud Storage are live; Earth Engine and the model registry are wired but run on labelled samples until access is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design here means three things. First, nothing consequential happens automatically: alerts, cross-boundary transfers and public advisories each need an officer's approval. Second, we collect little: reporters are pseudonymous and precise locations are not shown publicly, and we never call anyone a polluter, only a likely source to guide inspection. Third, Gemini is grounded: it sees only structured evidence, its numbers are checked, its actions are limited to the jurisdiction's rules, and every output carries model and prompt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earn scale through evidence. The outcome chain runs from detecting hotspots the network misses, to faster alert-to-action times, better-targeted inspections and, eventually, less exposure. A city pilot with one clean-air cell and ten to twenty co-located sensors lets us recalibrate and check that the forecast beats persistence. The owner is the State Pollution Control Board, and the natural budget route is the city clean-air action plans under NCAP, which we would confirm with the board. Today's forecast numbers come from simulated history, so we present them as a method,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seen runs today. On the left, the citizen app in Hindi after submitting a report: Gemini's verdict and the score moving from 66 to 83. Next to it, the officer dashboard with the hotspot on the grid and the alert waiting for review. The links take you to the deployed apps, the API documentation and the source. On the right is how we map to each of the five evaluation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support the problem and differentiation slides. The PRD is our own specification of the challenge. CPCB, SAFAR and CAQM are the official systems we complement rather than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reference slide covers the data and methods behind the technology slide, the model documentation for Gemini, and the PRANA portal, which tracks city clean-air action plans under NCAP and is our proposed budget route. Every dataset and library, with licences, is listed in THIRD_PARTY.md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air-quality-network-citizen-web-847963771142.asia-south1.run.app" TargetMode="External"/><Relationship Id="rId5" Type="http://schemas.openxmlformats.org/officeDocument/2006/relationships/hyperlink" Target="https://air-quality-network-officer-dashboard-847963771142.asia-south1.run.app" TargetMode="External"/><Relationship Id="rId6" Type="http://schemas.openxmlformats.org/officeDocument/2006/relationships/hyperlink" Target="https://air-quality-network-api-847963771142.asia-south1.run.app/docs" TargetMode="External"/><Relationship Id="rId7" Type="http://schemas.openxmlformats.org/officeDocument/2006/relationships/hyperlink" Target="https://github.com/ipavanreddy/air-quality-network" TargetMode="External"/><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cpcb.gov.in/National-Air-Quality-Index/" TargetMode="External"/><Relationship Id="rId3" Type="http://schemas.openxmlformats.org/officeDocument/2006/relationships/hyperlink" Target="https://safar.tropmet.res.in" TargetMode="External"/><Relationship Id="rId4" Type="http://schemas.openxmlformats.org/officeDocument/2006/relationships/hyperlink" Target="https://caqm.nic.in" TargetMode="External"/><Relationship Id="rId1"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developers.google.com/earth-engine/datasets/catalog/COPERNICUS_S5P_OFFL_L3_NO2" TargetMode="External"/><Relationship Id="rId3" Type="http://schemas.openxmlformats.org/officeDocument/2006/relationships/hyperlink" Target="https://doi.org/10.5194/amt-11-709-2018" TargetMode="External"/><Relationship Id="rId4" Type="http://schemas.openxmlformats.org/officeDocument/2006/relationships/hyperlink" Target="https://cloud.google.com/vertex-ai/generative-ai/docs/models/gemini/2-5-flash" TargetMode="External"/><Relationship Id="rId5" Type="http://schemas.openxmlformats.org/officeDocument/2006/relationships/hyperlink" Target="https://prana.cpcb.gov.in" TargetMode="External"/><Relationship Id="rId1"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149"/>
        </a:solidFill>
      </p:bgPr>
    </p:bg>
    <p:spTree>
      <p:nvGrpSpPr>
        <p:cNvPr id="1" name=""/>
        <p:cNvGrpSpPr/>
        <p:nvPr/>
      </p:nvGrpSpPr>
      <p:grpSpPr>
        <a:xfrm>
          <a:off x="0" y="0"/>
          <a:ext cx="0" cy="0"/>
          <a:chOff x="0" y="0"/>
          <a:chExt cx="0" cy="0"/>
        </a:xfrm>
      </p:grpSpPr>
      <p:pic>
        <p:nvPicPr>
          <p:cNvPr id="2" name="Image 0" descr="/Users/pavan/Documents/Code/Build_with_AI/air-quality-network/docs/pitch/assets/cover-hotspot-map.jpg">    </p:cNvPr>
          <p:cNvPicPr>
            <a:picLocks noChangeAspect="1"/>
          </p:cNvPicPr>
          <p:nvPr/>
        </p:nvPicPr>
        <p:blipFill>
          <a:blip r:embed="rId1"/>
          <a:srcRect l="0" r="0" t="0" b="0"/>
          <a:stretch/>
        </p:blipFill>
        <p:spPr>
          <a:xfrm>
            <a:off x="5669280" y="0"/>
            <a:ext cx="6522415" cy="6858000"/>
          </a:xfrm>
          <a:prstGeom prst="rect">
            <a:avLst/>
          </a:prstGeom>
        </p:spPr>
      </p:pic>
      <p:sp>
        <p:nvSpPr>
          <p:cNvPr id="3" name="Shape 0"/>
          <p:cNvSpPr/>
          <p:nvPr/>
        </p:nvSpPr>
        <p:spPr>
          <a:xfrm>
            <a:off x="649224" y="429768"/>
            <a:ext cx="768096" cy="713232"/>
          </a:xfrm>
          <a:prstGeom prst="roundRect">
            <a:avLst>
              <a:gd name="adj" fmla="val 10256"/>
            </a:avLst>
          </a:prstGeom>
          <a:solidFill>
            <a:srgbClr val="2E7D3A"/>
          </a:solidFill>
          <a:ln/>
        </p:spPr>
      </p:sp>
      <p:pic>
        <p:nvPicPr>
          <p:cNvPr id="4" name="Image 1" descr="/Users/pavan/Documents/Code/Build_with_AI/air-quality-network/docs/pitch/assets/spontom-mark.png">    </p:cNvPr>
          <p:cNvPicPr>
            <a:picLocks noChangeAspect="1"/>
          </p:cNvPicPr>
          <p:nvPr/>
        </p:nvPicPr>
        <p:blipFill>
          <a:blip r:embed="rId2"/>
          <a:stretch>
            <a:fillRect/>
          </a:stretch>
        </p:blipFill>
        <p:spPr>
          <a:xfrm>
            <a:off x="758952" y="530352"/>
            <a:ext cx="548640" cy="512064"/>
          </a:xfrm>
          <a:prstGeom prst="rect">
            <a:avLst/>
          </a:prstGeom>
        </p:spPr>
      </p:pic>
      <p:sp>
        <p:nvSpPr>
          <p:cNvPr id="5" name="Text 1"/>
          <p:cNvSpPr txBox="1"/>
          <p:nvPr/>
        </p:nvSpPr>
        <p:spPr>
          <a:xfrm>
            <a:off x="1600200" y="576072"/>
            <a:ext cx="3931920" cy="182880"/>
          </a:xfrm>
          <a:prstGeom prst="rect">
            <a:avLst/>
          </a:prstGeom>
          <a:noFill/>
          <a:ln/>
        </p:spPr>
        <p:txBody>
          <a:bodyPr wrap="square" lIns="0" tIns="0" rIns="0" bIns="0" rtlCol="0" anchor="t"/>
          <a:lstStyle/>
          <a:p>
            <a:pPr indent="0" marL="0">
              <a:buNone/>
            </a:pPr>
            <a:r>
              <a:rPr lang="en-US" sz="900" b="1" spc="150" kern="0" dirty="0">
                <a:solidFill>
                  <a:srgbClr val="FFFFFF"/>
                </a:solidFill>
                <a:latin typeface="Arial" pitchFamily="34" charset="0"/>
                <a:ea typeface="Arial" pitchFamily="34" charset="-122"/>
                <a:cs typeface="Arial" pitchFamily="34" charset="-120"/>
              </a:rPr>
              <a:t>SPONTOM ENTERPRISE PRIVATE LIMITED</a:t>
            </a:r>
            <a:endParaRPr lang="en-US" sz="900" dirty="0"/>
          </a:p>
        </p:txBody>
      </p:sp>
      <p:sp>
        <p:nvSpPr>
          <p:cNvPr id="6" name="Text 2"/>
          <p:cNvSpPr txBox="1"/>
          <p:nvPr/>
        </p:nvSpPr>
        <p:spPr>
          <a:xfrm>
            <a:off x="1600200" y="822960"/>
            <a:ext cx="3931920" cy="146304"/>
          </a:xfrm>
          <a:prstGeom prst="rect">
            <a:avLst/>
          </a:prstGeom>
          <a:noFill/>
          <a:ln/>
        </p:spPr>
        <p:txBody>
          <a:bodyPr wrap="square" lIns="0" tIns="0" rIns="0" bIns="0" rtlCol="0" anchor="t"/>
          <a:lstStyle/>
          <a:p>
            <a:pPr indent="0" marL="0">
              <a:buNone/>
            </a:pPr>
            <a:r>
              <a:rPr lang="en-US" sz="700" dirty="0">
                <a:solidFill>
                  <a:srgbClr val="B9C4CF"/>
                </a:solidFill>
                <a:latin typeface="Arial" pitchFamily="34" charset="0"/>
                <a:ea typeface="Arial" pitchFamily="34" charset="-122"/>
                <a:cs typeface="Arial" pitchFamily="34" charset="-120"/>
              </a:rPr>
              <a:t>Build with AI (Google)  •  Track 2</a:t>
            </a:r>
            <a:endParaRPr lang="en-US" sz="700" dirty="0"/>
          </a:p>
        </p:txBody>
      </p:sp>
      <p:sp>
        <p:nvSpPr>
          <p:cNvPr id="7" name="Text 3"/>
          <p:cNvSpPr txBox="1"/>
          <p:nvPr/>
        </p:nvSpPr>
        <p:spPr>
          <a:xfrm>
            <a:off x="649224" y="1417320"/>
            <a:ext cx="4846320" cy="160020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Vayu</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Drishti</a:t>
            </a:r>
            <a:endParaRPr lang="en-US" sz="4000" dirty="0"/>
          </a:p>
        </p:txBody>
      </p:sp>
      <p:sp>
        <p:nvSpPr>
          <p:cNvPr id="8" name="Text 4"/>
          <p:cNvSpPr txBox="1"/>
          <p:nvPr/>
        </p:nvSpPr>
        <p:spPr>
          <a:xfrm>
            <a:off x="649224" y="3063240"/>
            <a:ext cx="4754880" cy="868680"/>
          </a:xfrm>
          <a:prstGeom prst="rect">
            <a:avLst/>
          </a:prstGeom>
          <a:noFill/>
          <a:ln/>
        </p:spPr>
        <p:txBody>
          <a:bodyPr wrap="square" lIns="0" tIns="0" rIns="0" bIns="0" rtlCol="0" anchor="t">
            <a:normAutofit/>
          </a:bodyPr>
          <a:lstStyle/>
          <a:p>
            <a:pPr indent="0" marL="0">
              <a:buNone/>
            </a:pPr>
            <a:r>
              <a:rPr lang="en-US" sz="2000" b="1" dirty="0">
                <a:solidFill>
                  <a:srgbClr val="F3CB7A"/>
                </a:solidFill>
                <a:latin typeface="Arial" pitchFamily="34" charset="0"/>
                <a:ea typeface="Arial" pitchFamily="34" charset="-122"/>
                <a:cs typeface="Arial" pitchFamily="34" charset="-120"/>
              </a:rPr>
              <a:t>From a citizen’s photo</a:t>
            </a:r>
            <a:endParaRPr lang="en-US" sz="2000" dirty="0"/>
          </a:p>
          <a:p>
            <a:pPr indent="0" marL="0">
              <a:buNone/>
            </a:pPr>
            <a:r>
              <a:rPr lang="en-US" sz="2000" b="1" dirty="0">
                <a:solidFill>
                  <a:srgbClr val="F3CB7A"/>
                </a:solidFill>
                <a:latin typeface="Arial" pitchFamily="34" charset="0"/>
                <a:ea typeface="Arial" pitchFamily="34" charset="-122"/>
                <a:cs typeface="Arial" pitchFamily="34" charset="-120"/>
              </a:rPr>
              <a:t>to an officer’s action.</a:t>
            </a:r>
            <a:endParaRPr lang="en-US" sz="2000" dirty="0"/>
          </a:p>
        </p:txBody>
      </p:sp>
      <p:sp>
        <p:nvSpPr>
          <p:cNvPr id="9" name="Text 5"/>
          <p:cNvSpPr txBox="1"/>
          <p:nvPr/>
        </p:nvSpPr>
        <p:spPr>
          <a:xfrm>
            <a:off x="649224" y="4069080"/>
            <a:ext cx="4754880" cy="566928"/>
          </a:xfrm>
          <a:prstGeom prst="rect">
            <a:avLst/>
          </a:prstGeom>
          <a:noFill/>
          <a:ln/>
        </p:spPr>
        <p:txBody>
          <a:bodyPr wrap="square" lIns="0" tIns="0" rIns="0" bIns="0" rtlCol="0" anchor="t">
            <a:normAutofit/>
          </a:bodyPr>
          <a:lstStyle/>
          <a:p>
            <a:pPr indent="0" marL="0">
              <a:buNone/>
            </a:pPr>
            <a:r>
              <a:rPr lang="en-US" sz="1250" dirty="0">
                <a:solidFill>
                  <a:srgbClr val="E4E9EE"/>
                </a:solidFill>
                <a:latin typeface="Arial" pitchFamily="34" charset="0"/>
                <a:ea typeface="Arial" pitchFamily="34" charset="-122"/>
                <a:cs typeface="Arial" pitchFamily="34" charset="-120"/>
              </a:rPr>
              <a:t>Hyper-local air-quality intelligence that fuses citizen, sensor, satellite and weather evidence for the officer who can act.</a:t>
            </a:r>
            <a:endParaRPr lang="en-US" sz="1250" dirty="0"/>
          </a:p>
        </p:txBody>
      </p:sp>
      <p:sp>
        <p:nvSpPr>
          <p:cNvPr id="10" name="Shape 6"/>
          <p:cNvSpPr/>
          <p:nvPr/>
        </p:nvSpPr>
        <p:spPr>
          <a:xfrm>
            <a:off x="649224" y="4937760"/>
            <a:ext cx="1243584" cy="310896"/>
          </a:xfrm>
          <a:prstGeom prst="roundRect">
            <a:avLst>
              <a:gd name="adj" fmla="val 23529"/>
            </a:avLst>
          </a:prstGeom>
          <a:solidFill>
            <a:srgbClr val="2A4A63"/>
          </a:solidFill>
          <a:ln/>
        </p:spPr>
      </p:sp>
      <p:sp>
        <p:nvSpPr>
          <p:cNvPr id="11" name="Text 7"/>
          <p:cNvSpPr txBox="1"/>
          <p:nvPr/>
        </p:nvSpPr>
        <p:spPr>
          <a:xfrm>
            <a:off x="6492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GEMINI-POWERED</a:t>
            </a:r>
            <a:endParaRPr lang="en-US" sz="750" dirty="0"/>
          </a:p>
        </p:txBody>
      </p:sp>
      <p:sp>
        <p:nvSpPr>
          <p:cNvPr id="12" name="Shape 8"/>
          <p:cNvSpPr/>
          <p:nvPr/>
        </p:nvSpPr>
        <p:spPr>
          <a:xfrm>
            <a:off x="2020824" y="4937760"/>
            <a:ext cx="1243584" cy="310896"/>
          </a:xfrm>
          <a:prstGeom prst="roundRect">
            <a:avLst>
              <a:gd name="adj" fmla="val 23529"/>
            </a:avLst>
          </a:prstGeom>
          <a:solidFill>
            <a:srgbClr val="2A4A63"/>
          </a:solidFill>
          <a:ln/>
        </p:spPr>
      </p:sp>
      <p:sp>
        <p:nvSpPr>
          <p:cNvPr id="13" name="Text 9"/>
          <p:cNvSpPr txBox="1"/>
          <p:nvPr/>
        </p:nvSpPr>
        <p:spPr>
          <a:xfrm>
            <a:off x="20208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OFFICER-APPROVED</a:t>
            </a:r>
            <a:endParaRPr lang="en-US" sz="750" dirty="0"/>
          </a:p>
        </p:txBody>
      </p:sp>
      <p:sp>
        <p:nvSpPr>
          <p:cNvPr id="14" name="Shape 10"/>
          <p:cNvSpPr/>
          <p:nvPr/>
        </p:nvSpPr>
        <p:spPr>
          <a:xfrm>
            <a:off x="3392424" y="4937760"/>
            <a:ext cx="1243584" cy="310896"/>
          </a:xfrm>
          <a:prstGeom prst="roundRect">
            <a:avLst>
              <a:gd name="adj" fmla="val 23529"/>
            </a:avLst>
          </a:prstGeom>
          <a:solidFill>
            <a:srgbClr val="2A4A63"/>
          </a:solidFill>
          <a:ln/>
        </p:spPr>
      </p:sp>
      <p:sp>
        <p:nvSpPr>
          <p:cNvPr id="15" name="Text 11"/>
          <p:cNvSpPr txBox="1"/>
          <p:nvPr/>
        </p:nvSpPr>
        <p:spPr>
          <a:xfrm>
            <a:off x="33924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FEDERATED</a:t>
            </a:r>
            <a:endParaRPr lang="en-US" sz="750" dirty="0"/>
          </a:p>
        </p:txBody>
      </p:sp>
      <p:sp>
        <p:nvSpPr>
          <p:cNvPr id="16" name="Text 12"/>
          <p:cNvSpPr txBox="1"/>
          <p:nvPr/>
        </p:nvSpPr>
        <p:spPr>
          <a:xfrm>
            <a:off x="649224" y="5989320"/>
            <a:ext cx="4846320" cy="146304"/>
          </a:xfrm>
          <a:prstGeom prst="rect">
            <a:avLst/>
          </a:prstGeom>
          <a:noFill/>
          <a:ln/>
        </p:spPr>
        <p:txBody>
          <a:bodyPr wrap="square" lIns="0" tIns="0" rIns="0" bIns="0" rtlCol="0" anchor="t"/>
          <a:lstStyle/>
          <a:p>
            <a:pPr indent="0" marL="0">
              <a:buNone/>
            </a:pPr>
            <a:r>
              <a:rPr lang="en-US" sz="750" dirty="0">
                <a:solidFill>
                  <a:srgbClr val="C9D2DA"/>
                </a:solidFill>
                <a:latin typeface="Arial" pitchFamily="34" charset="0"/>
                <a:ea typeface="Arial" pitchFamily="34" charset="-122"/>
                <a:cs typeface="Arial" pitchFamily="34" charset="-120"/>
              </a:rPr>
              <a:t>A working prototype by Spontom Enterprise Private Limited</a:t>
            </a:r>
            <a:endParaRPr lang="en-US" sz="750" dirty="0"/>
          </a:p>
        </p:txBody>
      </p:sp>
      <p:sp>
        <p:nvSpPr>
          <p:cNvPr id="17" name="Text 13"/>
          <p:cNvSpPr txBox="1"/>
          <p:nvPr/>
        </p:nvSpPr>
        <p:spPr>
          <a:xfrm>
            <a:off x="649224" y="6217920"/>
            <a:ext cx="4846320" cy="128016"/>
          </a:xfrm>
          <a:prstGeom prst="rect">
            <a:avLst/>
          </a:prstGeom>
          <a:noFill/>
          <a:ln/>
        </p:spPr>
        <p:txBody>
          <a:bodyPr wrap="square" lIns="0" tIns="0" rIns="0" bIns="0" rtlCol="0" anchor="t"/>
          <a:lstStyle/>
          <a:p>
            <a:pPr indent="0" marL="0">
              <a:buNone/>
            </a:pPr>
            <a:r>
              <a:rPr lang="en-US" sz="650" dirty="0">
                <a:solidFill>
                  <a:srgbClr val="8FA0B0"/>
                </a:solidFill>
                <a:latin typeface="Arial" pitchFamily="34" charset="0"/>
                <a:ea typeface="Arial" pitchFamily="34" charset="-122"/>
                <a:cs typeface="Arial" pitchFamily="34" charset="-120"/>
              </a:rPr>
              <a:t>DPIIT Recognised  •  Visakhapatnam  •  September 2026</a:t>
            </a:r>
            <a:endParaRPr lang="en-US" sz="650" dirty="0"/>
          </a:p>
        </p:txBody>
      </p:sp>
      <p:sp>
        <p:nvSpPr>
          <p:cNvPr id="18" name="Shape 14"/>
          <p:cNvSpPr/>
          <p:nvPr/>
        </p:nvSpPr>
        <p:spPr>
          <a:xfrm>
            <a:off x="5897880" y="6291072"/>
            <a:ext cx="6065215" cy="329184"/>
          </a:xfrm>
          <a:prstGeom prst="roundRect">
            <a:avLst>
              <a:gd name="adj" fmla="val 16667"/>
            </a:avLst>
          </a:prstGeom>
          <a:solidFill>
            <a:srgbClr val="1B3149"/>
          </a:solidFill>
          <a:ln/>
        </p:spPr>
      </p:sp>
      <p:sp>
        <p:nvSpPr>
          <p:cNvPr id="19" name="Text 15"/>
          <p:cNvSpPr txBox="1"/>
          <p:nvPr/>
        </p:nvSpPr>
        <p:spPr>
          <a:xfrm>
            <a:off x="6035040" y="6291072"/>
            <a:ext cx="5790895" cy="329184"/>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Prototype screenshot: East Delhi hotspot, ~1 km H3 grid, sample data • Map © OpenStreetMap contributors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01 — PROBLEM UNDERSTANDING</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The station reads the city. The smoke is on one street.</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India monitors macro-level air quality well, but misses hyper-local events such as night-time industrial smoke. [1]</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[1] VayuDrishti PRD §2.1.  [2] CPCB National AQI.  Numbers: VayuDrishti demo run on labelled sample data (ITO sample station, simulated sensors), not real readings.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2</a:t>
            </a:r>
            <a:endParaRPr lang="en-US" sz="650" dirty="0"/>
          </a:p>
        </p:txBody>
      </p:sp>
      <p:sp>
        <p:nvSpPr>
          <p:cNvPr id="15" name="Shape 11"/>
          <p:cNvSpPr/>
          <p:nvPr/>
        </p:nvSpPr>
        <p:spPr>
          <a:xfrm>
            <a:off x="612648" y="1709928"/>
            <a:ext cx="3986784" cy="4233672"/>
          </a:xfrm>
          <a:prstGeom prst="roundRect">
            <a:avLst>
              <a:gd name="adj" fmla="val 2294"/>
            </a:avLst>
          </a:prstGeom>
          <a:solidFill>
            <a:srgbClr val="1B3149"/>
          </a:solidFill>
          <a:ln/>
        </p:spPr>
      </p:sp>
      <p:sp>
        <p:nvSpPr>
          <p:cNvPr id="16" name="Text 12"/>
          <p:cNvSpPr txBox="1"/>
          <p:nvPr/>
        </p:nvSpPr>
        <p:spPr>
          <a:xfrm>
            <a:off x="914400" y="2057400"/>
            <a:ext cx="3474720" cy="868680"/>
          </a:xfrm>
          <a:prstGeom prst="rect">
            <a:avLst/>
          </a:prstGeom>
          <a:noFill/>
          <a:ln/>
        </p:spPr>
        <p:txBody>
          <a:bodyPr wrap="square" lIns="0" tIns="0" rIns="0" bIns="0" rtlCol="0" anchor="t">
            <a:normAutofit/>
          </a:bodyPr>
          <a:lstStyle/>
          <a:p>
            <a:pPr indent="0" marL="0">
              <a:buNone/>
            </a:pPr>
            <a:r>
              <a:rPr lang="en-US" sz="2100" b="1" dirty="0">
                <a:solidFill>
                  <a:srgbClr val="FFFFFF"/>
                </a:solidFill>
                <a:latin typeface="Arial" pitchFamily="34" charset="0"/>
                <a:ea typeface="Arial" pitchFamily="34" charset="-122"/>
                <a:cs typeface="Arial" pitchFamily="34" charset="-120"/>
              </a:rPr>
              <a:t>One station average hides a street-level event.</a:t>
            </a:r>
            <a:endParaRPr lang="en-US" sz="2100" dirty="0"/>
          </a:p>
        </p:txBody>
      </p:sp>
      <p:sp>
        <p:nvSpPr>
          <p:cNvPr id="17" name="Shape 13"/>
          <p:cNvSpPr/>
          <p:nvPr/>
        </p:nvSpPr>
        <p:spPr>
          <a:xfrm>
            <a:off x="914400" y="3063240"/>
            <a:ext cx="1005840" cy="45720"/>
          </a:xfrm>
          <a:prstGeom prst="rect">
            <a:avLst/>
          </a:prstGeom>
          <a:solidFill>
            <a:srgbClr val="E8694A"/>
          </a:solidFill>
          <a:ln/>
        </p:spPr>
      </p:sp>
      <p:sp>
        <p:nvSpPr>
          <p:cNvPr id="18" name="Text 14"/>
          <p:cNvSpPr txBox="1"/>
          <p:nvPr/>
        </p:nvSpPr>
        <p:spPr>
          <a:xfrm>
            <a:off x="914400"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4.9 km</a:t>
            </a:r>
            <a:endParaRPr lang="en-US" sz="2800" dirty="0"/>
          </a:p>
        </p:txBody>
      </p:sp>
      <p:sp>
        <p:nvSpPr>
          <p:cNvPr id="19" name="Text 15"/>
          <p:cNvSpPr txBox="1"/>
          <p:nvPr/>
        </p:nvSpPr>
        <p:spPr>
          <a:xfrm>
            <a:off x="914400"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to nearest station</a:t>
            </a:r>
            <a:endParaRPr lang="en-US" sz="900" dirty="0"/>
          </a:p>
        </p:txBody>
      </p:sp>
      <p:sp>
        <p:nvSpPr>
          <p:cNvPr id="20" name="Text 16"/>
          <p:cNvSpPr txBox="1"/>
          <p:nvPr/>
        </p:nvSpPr>
        <p:spPr>
          <a:xfrm>
            <a:off x="2084832"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249</a:t>
            </a:r>
            <a:endParaRPr lang="en-US" sz="2800" dirty="0"/>
          </a:p>
        </p:txBody>
      </p:sp>
      <p:sp>
        <p:nvSpPr>
          <p:cNvPr id="21" name="Text 17"/>
          <p:cNvSpPr txBox="1"/>
          <p:nvPr/>
        </p:nvSpPr>
        <p:spPr>
          <a:xfrm>
            <a:off x="2084832"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µg/m³ local PM2.5</a:t>
            </a:r>
            <a:endParaRPr lang="en-US" sz="900" dirty="0"/>
          </a:p>
        </p:txBody>
      </p:sp>
      <p:sp>
        <p:nvSpPr>
          <p:cNvPr id="22" name="Text 18"/>
          <p:cNvSpPr txBox="1"/>
          <p:nvPr/>
        </p:nvSpPr>
        <p:spPr>
          <a:xfrm>
            <a:off x="3255264"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F3CB7A"/>
                </a:solidFill>
                <a:latin typeface="Arial" pitchFamily="34" charset="0"/>
                <a:ea typeface="Arial" pitchFamily="34" charset="-122"/>
                <a:cs typeface="Arial" pitchFamily="34" charset="-120"/>
              </a:rPr>
              <a:t>66</a:t>
            </a:r>
            <a:endParaRPr lang="en-US" sz="2800" dirty="0"/>
          </a:p>
        </p:txBody>
      </p:sp>
      <p:sp>
        <p:nvSpPr>
          <p:cNvPr id="23" name="Text 19"/>
          <p:cNvSpPr txBox="1"/>
          <p:nvPr/>
        </p:nvSpPr>
        <p:spPr>
          <a:xfrm>
            <a:off x="3255264"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score · alert at 70</a:t>
            </a:r>
            <a:endParaRPr lang="en-US" sz="900" dirty="0"/>
          </a:p>
        </p:txBody>
      </p:sp>
      <p:sp>
        <p:nvSpPr>
          <p:cNvPr id="24" name="Text 20"/>
          <p:cNvSpPr txBox="1"/>
          <p:nvPr/>
        </p:nvSpPr>
        <p:spPr>
          <a:xfrm>
            <a:off x="914400" y="4389120"/>
            <a:ext cx="3474720" cy="822960"/>
          </a:xfrm>
          <a:prstGeom prst="rect">
            <a:avLst/>
          </a:prstGeom>
          <a:noFill/>
          <a:ln/>
        </p:spPr>
        <p:txBody>
          <a:bodyPr wrap="square" lIns="0" tIns="0" rIns="0" bIns="0" rtlCol="0" anchor="t">
            <a:normAutofit/>
          </a:bodyPr>
          <a:lstStyle/>
          <a:p>
            <a:pPr indent="0" marL="0">
              <a:buNone/>
            </a:pPr>
            <a:r>
              <a:rPr lang="en-US" sz="1200" dirty="0">
                <a:solidFill>
                  <a:srgbClr val="E4E9EE"/>
                </a:solidFill>
                <a:latin typeface="Arial" pitchFamily="34" charset="0"/>
                <a:ea typeface="Arial" pitchFamily="34" charset="-122"/>
                <a:cs typeface="Arial" pitchFamily="34" charset="-120"/>
              </a:rPr>
              <a:t>Near an East Delhi industrial estate the cell reads 249 µg/m³ against 112 at the station. It scores 66, so nobody is alerted.</a:t>
            </a:r>
            <a:endParaRPr lang="en-US" sz="1200" dirty="0"/>
          </a:p>
        </p:txBody>
      </p:sp>
      <p:sp>
        <p:nvSpPr>
          <p:cNvPr id="25" name="Shape 21"/>
          <p:cNvSpPr/>
          <p:nvPr/>
        </p:nvSpPr>
        <p:spPr>
          <a:xfrm>
            <a:off x="914400" y="5349240"/>
            <a:ext cx="1554480" cy="310896"/>
          </a:xfrm>
          <a:prstGeom prst="roundRect">
            <a:avLst>
              <a:gd name="adj" fmla="val 23529"/>
            </a:avLst>
          </a:prstGeom>
          <a:solidFill>
            <a:srgbClr val="E8694A"/>
          </a:solidFill>
          <a:ln/>
        </p:spPr>
      </p:sp>
      <p:sp>
        <p:nvSpPr>
          <p:cNvPr id="26" name="Text 22"/>
          <p:cNvSpPr txBox="1"/>
          <p:nvPr/>
        </p:nvSpPr>
        <p:spPr>
          <a:xfrm>
            <a:off x="914400" y="5349240"/>
            <a:ext cx="1554480" cy="310896"/>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THE LOCAL BLIND SPOT</a:t>
            </a:r>
            <a:endParaRPr lang="en-US" sz="800" dirty="0"/>
          </a:p>
        </p:txBody>
      </p:sp>
      <p:sp>
        <p:nvSpPr>
          <p:cNvPr id="27" name="Shape 23"/>
          <p:cNvSpPr/>
          <p:nvPr/>
        </p:nvSpPr>
        <p:spPr>
          <a:xfrm>
            <a:off x="4992624" y="2093976"/>
            <a:ext cx="1362456" cy="1344168"/>
          </a:xfrm>
          <a:prstGeom prst="roundRect">
            <a:avLst>
              <a:gd name="adj" fmla="val 6803"/>
            </a:avLst>
          </a:prstGeom>
          <a:solidFill>
            <a:srgbClr val="FFFDF7"/>
          </a:solidFill>
          <a:ln w="9525">
            <a:solidFill>
              <a:srgbClr val="DCD5C5"/>
            </a:solidFill>
            <a:prstDash val="solid"/>
          </a:ln>
        </p:spPr>
      </p:sp>
      <p:sp>
        <p:nvSpPr>
          <p:cNvPr id="28" name="Text 24"/>
          <p:cNvSpPr txBox="1"/>
          <p:nvPr/>
        </p:nvSpPr>
        <p:spPr>
          <a:xfrm>
            <a:off x="5084064"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SIGNALS</a:t>
            </a:r>
            <a:endParaRPr lang="en-US" sz="1500" dirty="0"/>
          </a:p>
        </p:txBody>
      </p:sp>
      <p:sp>
        <p:nvSpPr>
          <p:cNvPr id="29" name="Text 25"/>
          <p:cNvSpPr txBox="1"/>
          <p:nvPr/>
        </p:nvSpPr>
        <p:spPr>
          <a:xfrm>
            <a:off x="5084064"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Stations, sensors, photos, satellite</a:t>
            </a:r>
            <a:endParaRPr lang="en-US" sz="950" dirty="0"/>
          </a:p>
        </p:txBody>
      </p:sp>
      <p:sp>
        <p:nvSpPr>
          <p:cNvPr id="30" name="Text 26"/>
          <p:cNvSpPr txBox="1"/>
          <p:nvPr/>
        </p:nvSpPr>
        <p:spPr>
          <a:xfrm>
            <a:off x="6355080"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611112" y="2093976"/>
            <a:ext cx="1362456" cy="1344168"/>
          </a:xfrm>
          <a:prstGeom prst="roundRect">
            <a:avLst>
              <a:gd name="adj" fmla="val 6803"/>
            </a:avLst>
          </a:prstGeom>
          <a:solidFill>
            <a:srgbClr val="FFFDF7"/>
          </a:solidFill>
          <a:ln w="9525">
            <a:solidFill>
              <a:srgbClr val="DCD5C5"/>
            </a:solidFill>
            <a:prstDash val="solid"/>
          </a:ln>
        </p:spPr>
      </p:sp>
      <p:sp>
        <p:nvSpPr>
          <p:cNvPr id="32" name="Text 28"/>
          <p:cNvSpPr txBox="1"/>
          <p:nvPr/>
        </p:nvSpPr>
        <p:spPr>
          <a:xfrm>
            <a:off x="6702552"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SILOS</a:t>
            </a:r>
            <a:endParaRPr lang="en-US" sz="1500" dirty="0"/>
          </a:p>
        </p:txBody>
      </p:sp>
      <p:sp>
        <p:nvSpPr>
          <p:cNvPr id="33" name="Text 29"/>
          <p:cNvSpPr txBox="1"/>
          <p:nvPr/>
        </p:nvSpPr>
        <p:spPr>
          <a:xfrm>
            <a:off x="6702552"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Held in separate systems</a:t>
            </a:r>
            <a:endParaRPr lang="en-US" sz="950" dirty="0"/>
          </a:p>
        </p:txBody>
      </p:sp>
      <p:sp>
        <p:nvSpPr>
          <p:cNvPr id="34" name="Text 30"/>
          <p:cNvSpPr txBox="1"/>
          <p:nvPr/>
        </p:nvSpPr>
        <p:spPr>
          <a:xfrm>
            <a:off x="7973568"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5" name="Shape 31"/>
          <p:cNvSpPr/>
          <p:nvPr/>
        </p:nvSpPr>
        <p:spPr>
          <a:xfrm>
            <a:off x="8229600" y="2093976"/>
            <a:ext cx="1362456" cy="1344168"/>
          </a:xfrm>
          <a:prstGeom prst="roundRect">
            <a:avLst>
              <a:gd name="adj" fmla="val 6803"/>
            </a:avLst>
          </a:prstGeom>
          <a:solidFill>
            <a:srgbClr val="FBE6DE"/>
          </a:solidFill>
          <a:ln w="9525">
            <a:solidFill>
              <a:srgbClr val="E8694A"/>
            </a:solidFill>
            <a:prstDash val="solid"/>
          </a:ln>
        </p:spPr>
      </p:sp>
      <p:sp>
        <p:nvSpPr>
          <p:cNvPr id="36" name="Text 32"/>
          <p:cNvSpPr txBox="1"/>
          <p:nvPr/>
        </p:nvSpPr>
        <p:spPr>
          <a:xfrm>
            <a:off x="8321040"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7" name="Text 33"/>
          <p:cNvSpPr txBox="1"/>
          <p:nvPr/>
        </p:nvSpPr>
        <p:spPr>
          <a:xfrm>
            <a:off x="8321040"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No fused, verified evidence</a:t>
            </a:r>
            <a:endParaRPr lang="en-US" sz="950" dirty="0"/>
          </a:p>
        </p:txBody>
      </p:sp>
      <p:sp>
        <p:nvSpPr>
          <p:cNvPr id="38" name="Text 34"/>
          <p:cNvSpPr txBox="1"/>
          <p:nvPr/>
        </p:nvSpPr>
        <p:spPr>
          <a:xfrm>
            <a:off x="9592056"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9" name="Shape 35"/>
          <p:cNvSpPr/>
          <p:nvPr/>
        </p:nvSpPr>
        <p:spPr>
          <a:xfrm>
            <a:off x="9848088" y="2093976"/>
            <a:ext cx="1362456" cy="1344168"/>
          </a:xfrm>
          <a:prstGeom prst="roundRect">
            <a:avLst>
              <a:gd name="adj" fmla="val 6803"/>
            </a:avLst>
          </a:prstGeom>
          <a:solidFill>
            <a:srgbClr val="FFFDF7"/>
          </a:solidFill>
          <a:ln w="9525">
            <a:solidFill>
              <a:srgbClr val="DCD5C5"/>
            </a:solidFill>
            <a:prstDash val="solid"/>
          </a:ln>
        </p:spPr>
      </p:sp>
      <p:sp>
        <p:nvSpPr>
          <p:cNvPr id="40" name="Text 36"/>
          <p:cNvSpPr txBox="1"/>
          <p:nvPr/>
        </p:nvSpPr>
        <p:spPr>
          <a:xfrm>
            <a:off x="9939528"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REACT</a:t>
            </a:r>
            <a:endParaRPr lang="en-US" sz="1500" dirty="0"/>
          </a:p>
        </p:txBody>
      </p:sp>
      <p:sp>
        <p:nvSpPr>
          <p:cNvPr id="41" name="Text 37"/>
          <p:cNvSpPr txBox="1"/>
          <p:nvPr/>
        </p:nvSpPr>
        <p:spPr>
          <a:xfrm>
            <a:off x="9939528"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Action after the peak</a:t>
            </a:r>
            <a:endParaRPr lang="en-US" sz="950" dirty="0"/>
          </a:p>
        </p:txBody>
      </p:sp>
      <p:sp>
        <p:nvSpPr>
          <p:cNvPr id="42" name="Text 38"/>
          <p:cNvSpPr txBox="1"/>
          <p:nvPr/>
        </p:nvSpPr>
        <p:spPr>
          <a:xfrm>
            <a:off x="4992624" y="4005072"/>
            <a:ext cx="3657600" cy="164592"/>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FOCUSED PROBLEM</a:t>
            </a:r>
            <a:endParaRPr lang="en-US" sz="850" dirty="0"/>
          </a:p>
        </p:txBody>
      </p:sp>
      <p:sp>
        <p:nvSpPr>
          <p:cNvPr id="43" name="Text 39"/>
          <p:cNvSpPr txBox="1"/>
          <p:nvPr/>
        </p:nvSpPr>
        <p:spPr>
          <a:xfrm>
            <a:off x="4992624" y="4434840"/>
            <a:ext cx="6400800" cy="777240"/>
          </a:xfrm>
          <a:prstGeom prst="rect">
            <a:avLst/>
          </a:prstGeom>
          <a:noFill/>
          <a:ln/>
        </p:spPr>
        <p:txBody>
          <a:bodyPr wrap="square" lIns="0" tIns="0" rIns="0" bIns="0" rtlCol="0" anchor="t">
            <a:normAutofit/>
          </a:bodyPr>
          <a:lstStyle/>
          <a:p>
            <a:pPr indent="0" marL="0">
              <a:buNone/>
            </a:pPr>
            <a:r>
              <a:rPr lang="en-US" sz="2100" b="1" dirty="0">
                <a:solidFill>
                  <a:srgbClr val="1B3149"/>
                </a:solidFill>
                <a:latin typeface="Arial" pitchFamily="34" charset="0"/>
                <a:ea typeface="Arial" pitchFamily="34" charset="-122"/>
                <a:cs typeface="Arial" pitchFamily="34" charset="-120"/>
              </a:rPr>
              <a:t>Officers lack verified, located evidence of hyper-local events in time to inspect.</a:t>
            </a:r>
            <a:endParaRPr lang="en-US" sz="2100" dirty="0"/>
          </a:p>
        </p:txBody>
      </p:sp>
      <p:sp>
        <p:nvSpPr>
          <p:cNvPr id="44" name="Text 40"/>
          <p:cNvSpPr txBox="1"/>
          <p:nvPr/>
        </p:nvSpPr>
        <p:spPr>
          <a:xfrm>
            <a:off x="4992624" y="5440680"/>
            <a:ext cx="1005840" cy="201168"/>
          </a:xfrm>
          <a:prstGeom prst="rect">
            <a:avLst/>
          </a:prstGeom>
          <a:noFill/>
          <a:ln/>
        </p:spPr>
        <p:txBody>
          <a:bodyPr wrap="square" lIns="0" tIns="0" rIns="0" bIns="0" rtlCol="0" anchor="t"/>
          <a:lstStyle/>
          <a:p>
            <a:pPr indent="0" marL="0">
              <a:buNone/>
            </a:pPr>
            <a:r>
              <a:rPr lang="en-US" sz="950" b="1" dirty="0">
                <a:solidFill>
                  <a:srgbClr val="E8694A"/>
                </a:solidFill>
                <a:latin typeface="Arial" pitchFamily="34" charset="0"/>
                <a:ea typeface="Arial" pitchFamily="34" charset="-122"/>
                <a:cs typeface="Arial" pitchFamily="34" charset="-120"/>
              </a:rPr>
              <a:t>Consequence</a:t>
            </a:r>
            <a:endParaRPr lang="en-US" sz="950" dirty="0"/>
          </a:p>
        </p:txBody>
      </p:sp>
      <p:sp>
        <p:nvSpPr>
          <p:cNvPr id="45" name="Text 41"/>
          <p:cNvSpPr txBox="1"/>
          <p:nvPr/>
        </p:nvSpPr>
        <p:spPr>
          <a:xfrm>
            <a:off x="5998464" y="5422392"/>
            <a:ext cx="5394960" cy="411480"/>
          </a:xfrm>
          <a:prstGeom prst="rect">
            <a:avLst/>
          </a:prstGeom>
          <a:noFill/>
          <a:ln/>
        </p:spPr>
        <p:txBody>
          <a:bodyPr wrap="square" lIns="0" tIns="0" rIns="0" bIns="0" rtlCol="0" anchor="t">
            <a:normAutofit/>
          </a:bodyPr>
          <a:lstStyle/>
          <a:p>
            <a:pPr indent="0" marL="0">
              <a:buNone/>
            </a:pPr>
            <a:r>
              <a:rPr lang="en-US" sz="1200" dirty="0">
                <a:solidFill>
                  <a:srgbClr val="1B3149"/>
                </a:solidFill>
                <a:latin typeface="Arial" pitchFamily="34" charset="0"/>
                <a:ea typeface="Arial" pitchFamily="34" charset="-122"/>
                <a:cs typeface="Arial" pitchFamily="34" charset="-120"/>
              </a:rPr>
              <a:t>Sources go undetected, inspections are poorly targeted and smoke crosses state lines unannounced.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02 — PROPOSED SOLUTION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VayuDrishti turns scattered signals into one inspection.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Gemini works only on structured evidence; every consequential step waits for an officer.</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Real Gemini output read from the deployed API (30 Sep 2026), generated on labelled sample sensor/satellite data; wording condensed.</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3</a:t>
            </a:r>
            <a:endParaRPr lang="en-US" sz="650" dirty="0"/>
          </a:p>
        </p:txBody>
      </p:sp>
      <p:sp>
        <p:nvSpPr>
          <p:cNvPr id="15" name="Shape 11"/>
          <p:cNvSpPr/>
          <p:nvPr/>
        </p:nvSpPr>
        <p:spPr>
          <a:xfrm>
            <a:off x="640080" y="1783080"/>
            <a:ext cx="4892040" cy="1024128"/>
          </a:xfrm>
          <a:prstGeom prst="roundRect">
            <a:avLst>
              <a:gd name="adj" fmla="val 8929"/>
            </a:avLst>
          </a:prstGeom>
          <a:solidFill>
            <a:srgbClr val="FFFDF7"/>
          </a:solidFill>
          <a:ln w="9525">
            <a:solidFill>
              <a:srgbClr val="DCD5C5"/>
            </a:solidFill>
            <a:prstDash val="solid"/>
          </a:ln>
        </p:spPr>
      </p:sp>
      <p:sp>
        <p:nvSpPr>
          <p:cNvPr id="16" name="Shape 12"/>
          <p:cNvSpPr/>
          <p:nvPr/>
        </p:nvSpPr>
        <p:spPr>
          <a:xfrm>
            <a:off x="841248" y="1956816"/>
            <a:ext cx="393192" cy="393192"/>
          </a:xfrm>
          <a:prstGeom prst="ellipse">
            <a:avLst/>
          </a:prstGeom>
          <a:solidFill>
            <a:srgbClr val="12796D"/>
          </a:solidFill>
          <a:ln/>
        </p:spPr>
      </p:sp>
      <p:sp>
        <p:nvSpPr>
          <p:cNvPr id="17" name="Text 13"/>
          <p:cNvSpPr txBox="1"/>
          <p:nvPr/>
        </p:nvSpPr>
        <p:spPr>
          <a:xfrm>
            <a:off x="841248" y="195681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8" name="Text 14"/>
          <p:cNvSpPr txBox="1"/>
          <p:nvPr/>
        </p:nvSpPr>
        <p:spPr>
          <a:xfrm>
            <a:off x="1389888" y="2002536"/>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SEE</a:t>
            </a:r>
            <a:endParaRPr lang="en-US" sz="1300" dirty="0"/>
          </a:p>
        </p:txBody>
      </p:sp>
      <p:sp>
        <p:nvSpPr>
          <p:cNvPr id="19" name="Text 15"/>
          <p:cNvSpPr txBox="1"/>
          <p:nvPr/>
        </p:nvSpPr>
        <p:spPr>
          <a:xfrm>
            <a:off x="3063240" y="2002536"/>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Citizen photo, sensors, satellite and weather fused on a ~1 km grid.</a:t>
            </a:r>
            <a:endParaRPr lang="en-US" sz="1050" dirty="0"/>
          </a:p>
        </p:txBody>
      </p:sp>
      <p:sp>
        <p:nvSpPr>
          <p:cNvPr id="20" name="Shape 16"/>
          <p:cNvSpPr/>
          <p:nvPr/>
        </p:nvSpPr>
        <p:spPr>
          <a:xfrm>
            <a:off x="640080" y="3035808"/>
            <a:ext cx="4892040" cy="1024128"/>
          </a:xfrm>
          <a:prstGeom prst="roundRect">
            <a:avLst>
              <a:gd name="adj" fmla="val 8929"/>
            </a:avLst>
          </a:prstGeom>
          <a:solidFill>
            <a:srgbClr val="DCEEE8"/>
          </a:solidFill>
          <a:ln w="9525">
            <a:solidFill>
              <a:srgbClr val="12796D"/>
            </a:solidFill>
            <a:prstDash val="solid"/>
          </a:ln>
        </p:spPr>
      </p:sp>
      <p:sp>
        <p:nvSpPr>
          <p:cNvPr id="21" name="Shape 17"/>
          <p:cNvSpPr/>
          <p:nvPr/>
        </p:nvSpPr>
        <p:spPr>
          <a:xfrm>
            <a:off x="841248" y="3209544"/>
            <a:ext cx="393192" cy="393192"/>
          </a:xfrm>
          <a:prstGeom prst="ellipse">
            <a:avLst/>
          </a:prstGeom>
          <a:solidFill>
            <a:srgbClr val="12796D"/>
          </a:solidFill>
          <a:ln/>
        </p:spPr>
      </p:sp>
      <p:sp>
        <p:nvSpPr>
          <p:cNvPr id="22" name="Text 18"/>
          <p:cNvSpPr txBox="1"/>
          <p:nvPr/>
        </p:nvSpPr>
        <p:spPr>
          <a:xfrm>
            <a:off x="841248" y="320954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3" name="Text 19"/>
          <p:cNvSpPr txBox="1"/>
          <p:nvPr/>
        </p:nvSpPr>
        <p:spPr>
          <a:xfrm>
            <a:off x="1389888" y="3255264"/>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SCORE + BRIEF</a:t>
            </a:r>
            <a:endParaRPr lang="en-US" sz="1300" dirty="0"/>
          </a:p>
        </p:txBody>
      </p:sp>
      <p:sp>
        <p:nvSpPr>
          <p:cNvPr id="24" name="Text 20"/>
          <p:cNvSpPr txBox="1"/>
          <p:nvPr/>
        </p:nvSpPr>
        <p:spPr>
          <a:xfrm>
            <a:off x="3063240" y="3255264"/>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Transparent Hotspot Confidence; Gemini drafts likely source and inspection.</a:t>
            </a:r>
            <a:endParaRPr lang="en-US" sz="1050" dirty="0"/>
          </a:p>
        </p:txBody>
      </p:sp>
      <p:sp>
        <p:nvSpPr>
          <p:cNvPr id="25" name="Shape 21"/>
          <p:cNvSpPr/>
          <p:nvPr/>
        </p:nvSpPr>
        <p:spPr>
          <a:xfrm>
            <a:off x="640080" y="4288536"/>
            <a:ext cx="4892040" cy="1024128"/>
          </a:xfrm>
          <a:prstGeom prst="roundRect">
            <a:avLst>
              <a:gd name="adj" fmla="val 8929"/>
            </a:avLst>
          </a:prstGeom>
          <a:solidFill>
            <a:srgbClr val="FFFDF7"/>
          </a:solidFill>
          <a:ln w="9525">
            <a:solidFill>
              <a:srgbClr val="DCD5C5"/>
            </a:solidFill>
            <a:prstDash val="solid"/>
          </a:ln>
        </p:spPr>
      </p:sp>
      <p:sp>
        <p:nvSpPr>
          <p:cNvPr id="26" name="Shape 22"/>
          <p:cNvSpPr/>
          <p:nvPr/>
        </p:nvSpPr>
        <p:spPr>
          <a:xfrm>
            <a:off x="841248" y="4462272"/>
            <a:ext cx="393192" cy="393192"/>
          </a:xfrm>
          <a:prstGeom prst="ellipse">
            <a:avLst/>
          </a:prstGeom>
          <a:solidFill>
            <a:srgbClr val="E8694A"/>
          </a:solidFill>
          <a:ln/>
        </p:spPr>
      </p:sp>
      <p:sp>
        <p:nvSpPr>
          <p:cNvPr id="27" name="Text 23"/>
          <p:cNvSpPr txBox="1"/>
          <p:nvPr/>
        </p:nvSpPr>
        <p:spPr>
          <a:xfrm>
            <a:off x="841248" y="4462272"/>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8" name="Text 24"/>
          <p:cNvSpPr txBox="1"/>
          <p:nvPr/>
        </p:nvSpPr>
        <p:spPr>
          <a:xfrm>
            <a:off x="1389888" y="4507992"/>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HUMAN DECISION</a:t>
            </a:r>
            <a:endParaRPr lang="en-US" sz="1300" dirty="0"/>
          </a:p>
        </p:txBody>
      </p:sp>
      <p:sp>
        <p:nvSpPr>
          <p:cNvPr id="29" name="Text 25"/>
          <p:cNvSpPr txBox="1"/>
          <p:nvPr/>
        </p:nvSpPr>
        <p:spPr>
          <a:xfrm>
            <a:off x="3063240" y="4507992"/>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Officer approves actions; advisories go out in hi/pa/en with voice.</a:t>
            </a:r>
            <a:endParaRPr lang="en-US" sz="1050" dirty="0"/>
          </a:p>
        </p:txBody>
      </p:sp>
      <p:sp>
        <p:nvSpPr>
          <p:cNvPr id="30" name="Shape 26"/>
          <p:cNvSpPr/>
          <p:nvPr/>
        </p:nvSpPr>
        <p:spPr>
          <a:xfrm>
            <a:off x="5961888" y="1691640"/>
            <a:ext cx="5468112" cy="4361688"/>
          </a:xfrm>
          <a:prstGeom prst="roundRect">
            <a:avLst>
              <a:gd name="adj" fmla="val 1258"/>
            </a:avLst>
          </a:prstGeom>
          <a:solidFill>
            <a:srgbClr val="FFFFFF"/>
          </a:solidFill>
          <a:ln w="9525">
            <a:solidFill>
              <a:srgbClr val="1B3149"/>
            </a:solidFill>
            <a:prstDash val="solid"/>
          </a:ln>
        </p:spPr>
      </p:sp>
      <p:sp>
        <p:nvSpPr>
          <p:cNvPr id="31" name="Shape 27"/>
          <p:cNvSpPr/>
          <p:nvPr/>
        </p:nvSpPr>
        <p:spPr>
          <a:xfrm>
            <a:off x="5961888" y="1691640"/>
            <a:ext cx="5468112" cy="585216"/>
          </a:xfrm>
          <a:prstGeom prst="rect">
            <a:avLst/>
          </a:prstGeom>
          <a:solidFill>
            <a:srgbClr val="1B3149"/>
          </a:solidFill>
          <a:ln/>
        </p:spPr>
      </p:sp>
      <p:sp>
        <p:nvSpPr>
          <p:cNvPr id="32" name="Text 28"/>
          <p:cNvSpPr txBox="1"/>
          <p:nvPr/>
        </p:nvSpPr>
        <p:spPr>
          <a:xfrm>
            <a:off x="6236208" y="1691640"/>
            <a:ext cx="3200400" cy="58521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ACTION BRIEF • GEMINI 2.5 FLASH</a:t>
            </a:r>
            <a:endParaRPr lang="en-US" sz="1100" dirty="0"/>
          </a:p>
        </p:txBody>
      </p:sp>
      <p:sp>
        <p:nvSpPr>
          <p:cNvPr id="33" name="Shape 29"/>
          <p:cNvSpPr/>
          <p:nvPr/>
        </p:nvSpPr>
        <p:spPr>
          <a:xfrm>
            <a:off x="9555480" y="1828800"/>
            <a:ext cx="1600200" cy="310896"/>
          </a:xfrm>
          <a:prstGeom prst="roundRect">
            <a:avLst>
              <a:gd name="adj" fmla="val 23529"/>
            </a:avLst>
          </a:prstGeom>
          <a:solidFill>
            <a:srgbClr val="2A4A63"/>
          </a:solidFill>
          <a:ln/>
        </p:spPr>
      </p:sp>
      <p:sp>
        <p:nvSpPr>
          <p:cNvPr id="34" name="Text 30"/>
          <p:cNvSpPr txBox="1"/>
          <p:nvPr/>
        </p:nvSpPr>
        <p:spPr>
          <a:xfrm>
            <a:off x="9555480" y="1828800"/>
            <a:ext cx="1600200" cy="310896"/>
          </a:xfrm>
          <a:prstGeom prst="rect">
            <a:avLst/>
          </a:prstGeom>
          <a:noFill/>
          <a:ln/>
        </p:spPr>
        <p:txBody>
          <a:bodyPr wrap="square" lIns="0" tIns="0" rIns="0" bIns="0" rtlCol="0" anchor="ctr"/>
          <a:lstStyle/>
          <a:p>
            <a:pPr algn="ctr" indent="0" marL="0">
              <a:buNone/>
            </a:pPr>
            <a:r>
              <a:rPr lang="en-US" sz="750" b="1" spc="50" kern="0" dirty="0">
                <a:solidFill>
                  <a:srgbClr val="F3CB7A"/>
                </a:solidFill>
                <a:latin typeface="Arial" pitchFamily="34" charset="0"/>
                <a:ea typeface="Arial" pitchFamily="34" charset="-122"/>
                <a:cs typeface="Arial" pitchFamily="34" charset="-120"/>
              </a:rPr>
              <a:t>DRAFT • NEEDS APPROVAL</a:t>
            </a:r>
            <a:endParaRPr lang="en-US" sz="750" dirty="0"/>
          </a:p>
        </p:txBody>
      </p:sp>
      <p:sp>
        <p:nvSpPr>
          <p:cNvPr id="35" name="Text 31"/>
          <p:cNvSpPr txBox="1"/>
          <p:nvPr/>
        </p:nvSpPr>
        <p:spPr>
          <a:xfrm>
            <a:off x="6236208" y="2487168"/>
            <a:ext cx="4919472" cy="365760"/>
          </a:xfrm>
          <a:prstGeom prst="rect">
            <a:avLst/>
          </a:prstGeom>
          <a:noFill/>
          <a:ln/>
        </p:spPr>
        <p:txBody>
          <a:bodyPr wrap="square" lIns="0" tIns="0" rIns="0" bIns="0" rtlCol="0" anchor="t">
            <a:normAutofit/>
          </a:bodyPr>
          <a:lstStyle/>
          <a:p>
            <a:pPr indent="0" marL="0">
              <a:buNone/>
            </a:pPr>
            <a:r>
              <a:rPr lang="en-US" sz="1500" b="1" dirty="0">
                <a:solidFill>
                  <a:srgbClr val="1B3149"/>
                </a:solidFill>
                <a:latin typeface="Arial" pitchFamily="34" charset="0"/>
                <a:ea typeface="Arial" pitchFamily="34" charset="-122"/>
                <a:cs typeface="Arial" pitchFamily="34" charset="-120"/>
              </a:rPr>
              <a:t>Sangrur–Patiala belt, Punjab • 95/100 • severe</a:t>
            </a:r>
            <a:endParaRPr lang="en-US" sz="1500" dirty="0"/>
          </a:p>
        </p:txBody>
      </p:sp>
      <p:sp>
        <p:nvSpPr>
          <p:cNvPr id="36" name="Shape 32"/>
          <p:cNvSpPr/>
          <p:nvPr/>
        </p:nvSpPr>
        <p:spPr>
          <a:xfrm>
            <a:off x="6236208" y="3017520"/>
            <a:ext cx="384048" cy="384048"/>
          </a:xfrm>
          <a:prstGeom prst="ellipse">
            <a:avLst/>
          </a:prstGeom>
          <a:solidFill>
            <a:srgbClr val="12796D"/>
          </a:solidFill>
          <a:ln/>
        </p:spPr>
      </p:sp>
      <p:sp>
        <p:nvSpPr>
          <p:cNvPr id="37" name="Text 33"/>
          <p:cNvSpPr txBox="1"/>
          <p:nvPr/>
        </p:nvSpPr>
        <p:spPr>
          <a:xfrm>
            <a:off x="6236208" y="3017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8" name="Text 34"/>
          <p:cNvSpPr txBox="1"/>
          <p:nvPr/>
        </p:nvSpPr>
        <p:spPr>
          <a:xfrm>
            <a:off x="6784848" y="3035808"/>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Likely source: crop residue burning (confidence 0.95).</a:t>
            </a:r>
            <a:endParaRPr lang="en-US" sz="1050" dirty="0"/>
          </a:p>
        </p:txBody>
      </p:sp>
      <p:sp>
        <p:nvSpPr>
          <p:cNvPr id="39" name="Shape 35"/>
          <p:cNvSpPr/>
          <p:nvPr/>
        </p:nvSpPr>
        <p:spPr>
          <a:xfrm>
            <a:off x="6236208" y="3493008"/>
            <a:ext cx="384048" cy="384048"/>
          </a:xfrm>
          <a:prstGeom prst="ellipse">
            <a:avLst/>
          </a:prstGeom>
          <a:solidFill>
            <a:srgbClr val="12796D"/>
          </a:solidFill>
          <a:ln/>
        </p:spPr>
      </p:sp>
      <p:sp>
        <p:nvSpPr>
          <p:cNvPr id="40" name="Text 36"/>
          <p:cNvSpPr txBox="1"/>
          <p:nvPr/>
        </p:nvSpPr>
        <p:spPr>
          <a:xfrm>
            <a:off x="6236208" y="349300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1" name="Text 37"/>
          <p:cNvSpPr txBox="1"/>
          <p:nvPr/>
        </p:nvSpPr>
        <p:spPr>
          <a:xfrm>
            <a:off x="6784848" y="3511296"/>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Evidence: PM2.5 226.4 µg/m³ (indicative) • 39 fires upwind.</a:t>
            </a:r>
            <a:endParaRPr lang="en-US" sz="1050" dirty="0"/>
          </a:p>
        </p:txBody>
      </p:sp>
      <p:sp>
        <p:nvSpPr>
          <p:cNvPr id="42" name="Shape 38"/>
          <p:cNvSpPr/>
          <p:nvPr/>
        </p:nvSpPr>
        <p:spPr>
          <a:xfrm>
            <a:off x="6236208" y="3968496"/>
            <a:ext cx="384048" cy="384048"/>
          </a:xfrm>
          <a:prstGeom prst="ellipse">
            <a:avLst/>
          </a:prstGeom>
          <a:solidFill>
            <a:srgbClr val="12796D"/>
          </a:solidFill>
          <a:ln/>
        </p:spPr>
      </p:sp>
      <p:sp>
        <p:nvSpPr>
          <p:cNvPr id="43" name="Text 39"/>
          <p:cNvSpPr txBox="1"/>
          <p:nvPr/>
        </p:nvSpPr>
        <p:spPr>
          <a:xfrm>
            <a:off x="6236208" y="396849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4" name="Text 40"/>
          <p:cNvSpPr txBox="1"/>
          <p:nvPr/>
        </p:nvSpPr>
        <p:spPr>
          <a:xfrm>
            <a:off x="6784848" y="3986784"/>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Recommended: dispatch cluster nodal officer / field team.</a:t>
            </a:r>
            <a:endParaRPr lang="en-US" sz="1050" dirty="0"/>
          </a:p>
        </p:txBody>
      </p:sp>
      <p:sp>
        <p:nvSpPr>
          <p:cNvPr id="45" name="Shape 41"/>
          <p:cNvSpPr/>
          <p:nvPr/>
        </p:nvSpPr>
        <p:spPr>
          <a:xfrm>
            <a:off x="6236208" y="4443984"/>
            <a:ext cx="384048" cy="384048"/>
          </a:xfrm>
          <a:prstGeom prst="ellipse">
            <a:avLst/>
          </a:prstGeom>
          <a:solidFill>
            <a:srgbClr val="12796D"/>
          </a:solidFill>
          <a:ln/>
        </p:spPr>
      </p:sp>
      <p:sp>
        <p:nvSpPr>
          <p:cNvPr id="46" name="Text 42"/>
          <p:cNvSpPr txBox="1"/>
          <p:nvPr/>
        </p:nvSpPr>
        <p:spPr>
          <a:xfrm>
            <a:off x="6236208" y="444398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7" name="Text 43"/>
          <p:cNvSpPr txBox="1"/>
          <p:nvPr/>
        </p:nvSpPr>
        <p:spPr>
          <a:xfrm>
            <a:off x="6784848" y="4462272"/>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Outlook: ~287 µg/m³ (Severe) at +48 h.</a:t>
            </a:r>
            <a:endParaRPr lang="en-US" sz="1050" dirty="0"/>
          </a:p>
        </p:txBody>
      </p:sp>
      <p:sp>
        <p:nvSpPr>
          <p:cNvPr id="48" name="Shape 44"/>
          <p:cNvSpPr/>
          <p:nvPr/>
        </p:nvSpPr>
        <p:spPr>
          <a:xfrm>
            <a:off x="6236208" y="4919472"/>
            <a:ext cx="384048" cy="384048"/>
          </a:xfrm>
          <a:prstGeom prst="ellipse">
            <a:avLst/>
          </a:prstGeom>
          <a:solidFill>
            <a:srgbClr val="E8694A"/>
          </a:solidFill>
          <a:ln/>
        </p:spPr>
      </p:sp>
      <p:sp>
        <p:nvSpPr>
          <p:cNvPr id="49" name="Text 45"/>
          <p:cNvSpPr txBox="1"/>
          <p:nvPr/>
        </p:nvSpPr>
        <p:spPr>
          <a:xfrm>
            <a:off x="6236208" y="491947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50" name="Text 46"/>
          <p:cNvSpPr txBox="1"/>
          <p:nvPr/>
        </p:nvSpPr>
        <p:spPr>
          <a:xfrm>
            <a:off x="6784848" y="4937760"/>
            <a:ext cx="4370832" cy="365760"/>
          </a:xfrm>
          <a:prstGeom prst="rect">
            <a:avLst/>
          </a:prstGeom>
          <a:noFill/>
          <a:ln/>
        </p:spPr>
        <p:txBody>
          <a:bodyPr wrap="square" lIns="0" tIns="0" rIns="0" bIns="0" rtlCol="0" anchor="ctr">
            <a:normAutofit/>
          </a:bodyPr>
          <a:lstStyle/>
          <a:p>
            <a:pPr indent="0" marL="0">
              <a:buNone/>
            </a:pPr>
            <a:r>
              <a:rPr lang="en-US" sz="1050" b="1" dirty="0">
                <a:solidFill>
                  <a:srgbClr val="E8694A"/>
                </a:solidFill>
                <a:latin typeface="Arial" pitchFamily="34" charset="0"/>
                <a:ea typeface="Arial" pitchFamily="34" charset="-122"/>
                <a:cs typeface="Arial" pitchFamily="34" charset="-120"/>
              </a:rPr>
              <a:t>Uncertainty stated: nearest official station 53.1 km away.</a:t>
            </a:r>
            <a:endParaRPr lang="en-US" sz="1050" dirty="0"/>
          </a:p>
        </p:txBody>
      </p:sp>
      <p:sp>
        <p:nvSpPr>
          <p:cNvPr id="51" name="Shape 47"/>
          <p:cNvSpPr/>
          <p:nvPr/>
        </p:nvSpPr>
        <p:spPr>
          <a:xfrm>
            <a:off x="6236208" y="5394960"/>
            <a:ext cx="4919472" cy="0"/>
          </a:xfrm>
          <a:prstGeom prst="line">
            <a:avLst/>
          </a:prstGeom>
          <a:noFill/>
          <a:ln w="9525">
            <a:solidFill>
              <a:srgbClr val="DCD5C5"/>
            </a:solidFill>
            <a:prstDash val="solid"/>
          </a:ln>
        </p:spPr>
      </p:sp>
      <p:sp>
        <p:nvSpPr>
          <p:cNvPr id="52" name="Text 48"/>
          <p:cNvSpPr txBox="1"/>
          <p:nvPr/>
        </p:nvSpPr>
        <p:spPr>
          <a:xfrm>
            <a:off x="6236208" y="5513832"/>
            <a:ext cx="3273552" cy="347472"/>
          </a:xfrm>
          <a:prstGeom prst="rect">
            <a:avLst/>
          </a:prstGeom>
          <a:noFill/>
          <a:ln/>
        </p:spPr>
        <p:txBody>
          <a:bodyPr wrap="square" lIns="0" tIns="0" rIns="0" bIns="0" rtlCol="0" anchor="ctr">
            <a:normAutofit/>
          </a:bodyPr>
          <a:lstStyle/>
          <a:p>
            <a:pPr indent="0" marL="0">
              <a:buNone/>
            </a:pPr>
            <a:r>
              <a:rPr lang="en-US" sz="1050" b="1" dirty="0">
                <a:solidFill>
                  <a:srgbClr val="12796D"/>
                </a:solidFill>
                <a:latin typeface="Arial" pitchFamily="34" charset="0"/>
                <a:ea typeface="Arial" pitchFamily="34" charset="-122"/>
                <a:cs typeface="Arial" pitchFamily="34" charset="-120"/>
              </a:rPr>
              <a:t>Prompt action_brief_v2 • numbers checked vs evidence</a:t>
            </a:r>
            <a:endParaRPr lang="en-US" sz="1050" dirty="0"/>
          </a:p>
        </p:txBody>
      </p:sp>
      <p:sp>
        <p:nvSpPr>
          <p:cNvPr id="53" name="Shape 49"/>
          <p:cNvSpPr/>
          <p:nvPr/>
        </p:nvSpPr>
        <p:spPr>
          <a:xfrm>
            <a:off x="9646920" y="5504688"/>
            <a:ext cx="1508760" cy="347472"/>
          </a:xfrm>
          <a:prstGeom prst="roundRect">
            <a:avLst>
              <a:gd name="adj" fmla="val 21053"/>
            </a:avLst>
          </a:prstGeom>
          <a:solidFill>
            <a:srgbClr val="E8694A"/>
          </a:solidFill>
          <a:ln/>
        </p:spPr>
      </p:sp>
      <p:sp>
        <p:nvSpPr>
          <p:cNvPr id="54" name="Text 50"/>
          <p:cNvSpPr txBox="1"/>
          <p:nvPr/>
        </p:nvSpPr>
        <p:spPr>
          <a:xfrm>
            <a:off x="9646920" y="5504688"/>
            <a:ext cx="1508760" cy="347472"/>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Arial" pitchFamily="34" charset="0"/>
                <a:ea typeface="Arial" pitchFamily="34" charset="-122"/>
                <a:cs typeface="Arial" pitchFamily="34" charset="-120"/>
              </a:rPr>
              <a:t>APPROVE ACTIONS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03 — HOW IT WORKS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From one photo to an approved action in seven steps.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Machines gather and rank evidence; people approve anything that leaves the system.</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Hotspot Confidence = sensor anomaly 35% • satellite 25% • citizen reports 25% • weather plausibility 15% (services/api/app/hotspots/confidence.py).</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4</a:t>
            </a:r>
            <a:endParaRPr lang="en-US" sz="650" dirty="0"/>
          </a:p>
        </p:txBody>
      </p:sp>
      <p:sp>
        <p:nvSpPr>
          <p:cNvPr id="15" name="Shape 11"/>
          <p:cNvSpPr/>
          <p:nvPr/>
        </p:nvSpPr>
        <p:spPr>
          <a:xfrm>
            <a:off x="594360" y="1892808"/>
            <a:ext cx="1336722" cy="1389888"/>
          </a:xfrm>
          <a:prstGeom prst="roundRect">
            <a:avLst>
              <a:gd name="adj" fmla="val 6841"/>
            </a:avLst>
          </a:prstGeom>
          <a:solidFill>
            <a:srgbClr val="FFFDF7"/>
          </a:solidFill>
          <a:ln w="9525">
            <a:solidFill>
              <a:srgbClr val="DCD5C5"/>
            </a:solidFill>
            <a:prstDash val="solid"/>
          </a:ln>
        </p:spPr>
      </p:sp>
      <p:sp>
        <p:nvSpPr>
          <p:cNvPr id="16" name="Shape 12"/>
          <p:cNvSpPr/>
          <p:nvPr/>
        </p:nvSpPr>
        <p:spPr>
          <a:xfrm>
            <a:off x="722376" y="2011680"/>
            <a:ext cx="393192" cy="393192"/>
          </a:xfrm>
          <a:prstGeom prst="ellipse">
            <a:avLst/>
          </a:prstGeom>
          <a:solidFill>
            <a:srgbClr val="12796D"/>
          </a:solidFill>
          <a:ln/>
        </p:spPr>
      </p:sp>
      <p:sp>
        <p:nvSpPr>
          <p:cNvPr id="17" name="Text 13"/>
          <p:cNvSpPr txBox="1"/>
          <p:nvPr/>
        </p:nvSpPr>
        <p:spPr>
          <a:xfrm>
            <a:off x="722376"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8" name="Text 14"/>
          <p:cNvSpPr txBox="1"/>
          <p:nvPr/>
        </p:nvSpPr>
        <p:spPr>
          <a:xfrm>
            <a:off x="640080"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REPORT</a:t>
            </a:r>
            <a:endParaRPr lang="en-US" sz="1100" dirty="0"/>
          </a:p>
        </p:txBody>
      </p:sp>
      <p:sp>
        <p:nvSpPr>
          <p:cNvPr id="19" name="Text 15"/>
          <p:cNvSpPr txBox="1"/>
          <p:nvPr/>
        </p:nvSpPr>
        <p:spPr>
          <a:xfrm>
            <a:off x="640080"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Photo + voice note</a:t>
            </a:r>
            <a:endParaRPr lang="en-US" sz="850" dirty="0"/>
          </a:p>
        </p:txBody>
      </p:sp>
      <p:sp>
        <p:nvSpPr>
          <p:cNvPr id="20" name="Text 16"/>
          <p:cNvSpPr txBox="1"/>
          <p:nvPr/>
        </p:nvSpPr>
        <p:spPr>
          <a:xfrm>
            <a:off x="1931082"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1" name="Shape 17"/>
          <p:cNvSpPr/>
          <p:nvPr/>
        </p:nvSpPr>
        <p:spPr>
          <a:xfrm>
            <a:off x="2205402" y="1892808"/>
            <a:ext cx="1336722" cy="1389888"/>
          </a:xfrm>
          <a:prstGeom prst="roundRect">
            <a:avLst>
              <a:gd name="adj" fmla="val 6841"/>
            </a:avLst>
          </a:prstGeom>
          <a:solidFill>
            <a:srgbClr val="FFFDF7"/>
          </a:solidFill>
          <a:ln w="9525">
            <a:solidFill>
              <a:srgbClr val="DCD5C5"/>
            </a:solidFill>
            <a:prstDash val="solid"/>
          </a:ln>
        </p:spPr>
      </p:sp>
      <p:sp>
        <p:nvSpPr>
          <p:cNvPr id="22" name="Shape 18"/>
          <p:cNvSpPr/>
          <p:nvPr/>
        </p:nvSpPr>
        <p:spPr>
          <a:xfrm>
            <a:off x="2333418" y="2011680"/>
            <a:ext cx="393192" cy="393192"/>
          </a:xfrm>
          <a:prstGeom prst="ellipse">
            <a:avLst/>
          </a:prstGeom>
          <a:solidFill>
            <a:srgbClr val="12796D"/>
          </a:solidFill>
          <a:ln/>
        </p:spPr>
      </p:sp>
      <p:sp>
        <p:nvSpPr>
          <p:cNvPr id="23" name="Text 19"/>
          <p:cNvSpPr txBox="1"/>
          <p:nvPr/>
        </p:nvSpPr>
        <p:spPr>
          <a:xfrm>
            <a:off x="2333418"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4" name="Text 20"/>
          <p:cNvSpPr txBox="1"/>
          <p:nvPr/>
        </p:nvSpPr>
        <p:spPr>
          <a:xfrm>
            <a:off x="2251122"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VERIFY</a:t>
            </a:r>
            <a:endParaRPr lang="en-US" sz="1100" dirty="0"/>
          </a:p>
        </p:txBody>
      </p:sp>
      <p:sp>
        <p:nvSpPr>
          <p:cNvPr id="25" name="Text 21"/>
          <p:cNvSpPr txBox="1"/>
          <p:nvPr/>
        </p:nvSpPr>
        <p:spPr>
          <a:xfrm>
            <a:off x="2251122"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Gemini photo check</a:t>
            </a:r>
            <a:endParaRPr lang="en-US" sz="850" dirty="0"/>
          </a:p>
        </p:txBody>
      </p:sp>
      <p:sp>
        <p:nvSpPr>
          <p:cNvPr id="26" name="Text 22"/>
          <p:cNvSpPr txBox="1"/>
          <p:nvPr/>
        </p:nvSpPr>
        <p:spPr>
          <a:xfrm>
            <a:off x="3542124"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7" name="Shape 23"/>
          <p:cNvSpPr/>
          <p:nvPr/>
        </p:nvSpPr>
        <p:spPr>
          <a:xfrm>
            <a:off x="3816444" y="1892808"/>
            <a:ext cx="1336722" cy="1389888"/>
          </a:xfrm>
          <a:prstGeom prst="roundRect">
            <a:avLst>
              <a:gd name="adj" fmla="val 6841"/>
            </a:avLst>
          </a:prstGeom>
          <a:solidFill>
            <a:srgbClr val="FFFDF7"/>
          </a:solidFill>
          <a:ln w="9525">
            <a:solidFill>
              <a:srgbClr val="DCD5C5"/>
            </a:solidFill>
            <a:prstDash val="solid"/>
          </a:ln>
        </p:spPr>
      </p:sp>
      <p:sp>
        <p:nvSpPr>
          <p:cNvPr id="28" name="Shape 24"/>
          <p:cNvSpPr/>
          <p:nvPr/>
        </p:nvSpPr>
        <p:spPr>
          <a:xfrm>
            <a:off x="3944460" y="2011680"/>
            <a:ext cx="393192" cy="393192"/>
          </a:xfrm>
          <a:prstGeom prst="ellipse">
            <a:avLst/>
          </a:prstGeom>
          <a:solidFill>
            <a:srgbClr val="12796D"/>
          </a:solidFill>
          <a:ln/>
        </p:spPr>
      </p:sp>
      <p:sp>
        <p:nvSpPr>
          <p:cNvPr id="29" name="Text 25"/>
          <p:cNvSpPr txBox="1"/>
          <p:nvPr/>
        </p:nvSpPr>
        <p:spPr>
          <a:xfrm>
            <a:off x="3944460"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0" name="Text 26"/>
          <p:cNvSpPr txBox="1"/>
          <p:nvPr/>
        </p:nvSpPr>
        <p:spPr>
          <a:xfrm>
            <a:off x="3862164"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FUSE</a:t>
            </a:r>
            <a:endParaRPr lang="en-US" sz="1100" dirty="0"/>
          </a:p>
        </p:txBody>
      </p:sp>
      <p:sp>
        <p:nvSpPr>
          <p:cNvPr id="31" name="Text 27"/>
          <p:cNvSpPr txBox="1"/>
          <p:nvPr/>
        </p:nvSpPr>
        <p:spPr>
          <a:xfrm>
            <a:off x="3862164"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Sensor • satellite • weather</a:t>
            </a:r>
            <a:endParaRPr lang="en-US" sz="850" dirty="0"/>
          </a:p>
        </p:txBody>
      </p:sp>
      <p:sp>
        <p:nvSpPr>
          <p:cNvPr id="32" name="Text 28"/>
          <p:cNvSpPr txBox="1"/>
          <p:nvPr/>
        </p:nvSpPr>
        <p:spPr>
          <a:xfrm>
            <a:off x="5153167"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3" name="Shape 29"/>
          <p:cNvSpPr/>
          <p:nvPr/>
        </p:nvSpPr>
        <p:spPr>
          <a:xfrm>
            <a:off x="5427487" y="1892808"/>
            <a:ext cx="1336722" cy="1389888"/>
          </a:xfrm>
          <a:prstGeom prst="roundRect">
            <a:avLst>
              <a:gd name="adj" fmla="val 6841"/>
            </a:avLst>
          </a:prstGeom>
          <a:solidFill>
            <a:srgbClr val="DCEEE8"/>
          </a:solidFill>
          <a:ln w="9525">
            <a:solidFill>
              <a:srgbClr val="12796D"/>
            </a:solidFill>
            <a:prstDash val="solid"/>
          </a:ln>
        </p:spPr>
      </p:sp>
      <p:sp>
        <p:nvSpPr>
          <p:cNvPr id="34" name="Shape 30"/>
          <p:cNvSpPr/>
          <p:nvPr/>
        </p:nvSpPr>
        <p:spPr>
          <a:xfrm>
            <a:off x="5555503" y="2011680"/>
            <a:ext cx="393192" cy="393192"/>
          </a:xfrm>
          <a:prstGeom prst="ellipse">
            <a:avLst/>
          </a:prstGeom>
          <a:solidFill>
            <a:srgbClr val="12796D"/>
          </a:solidFill>
          <a:ln/>
        </p:spPr>
      </p:sp>
      <p:sp>
        <p:nvSpPr>
          <p:cNvPr id="35" name="Text 31"/>
          <p:cNvSpPr txBox="1"/>
          <p:nvPr/>
        </p:nvSpPr>
        <p:spPr>
          <a:xfrm>
            <a:off x="5555503"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6" name="Text 32"/>
          <p:cNvSpPr txBox="1"/>
          <p:nvPr/>
        </p:nvSpPr>
        <p:spPr>
          <a:xfrm>
            <a:off x="5473207"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SCORE</a:t>
            </a:r>
            <a:endParaRPr lang="en-US" sz="1100" dirty="0"/>
          </a:p>
        </p:txBody>
      </p:sp>
      <p:sp>
        <p:nvSpPr>
          <p:cNvPr id="37" name="Text 33"/>
          <p:cNvSpPr txBox="1"/>
          <p:nvPr/>
        </p:nvSpPr>
        <p:spPr>
          <a:xfrm>
            <a:off x="5473207"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Hotspot Confidence</a:t>
            </a:r>
            <a:endParaRPr lang="en-US" sz="850" dirty="0"/>
          </a:p>
        </p:txBody>
      </p:sp>
      <p:sp>
        <p:nvSpPr>
          <p:cNvPr id="38" name="Text 34"/>
          <p:cNvSpPr txBox="1"/>
          <p:nvPr/>
        </p:nvSpPr>
        <p:spPr>
          <a:xfrm>
            <a:off x="6764209"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9" name="Shape 35"/>
          <p:cNvSpPr/>
          <p:nvPr/>
        </p:nvSpPr>
        <p:spPr>
          <a:xfrm>
            <a:off x="7038529" y="1892808"/>
            <a:ext cx="1336722" cy="1389888"/>
          </a:xfrm>
          <a:prstGeom prst="roundRect">
            <a:avLst>
              <a:gd name="adj" fmla="val 6841"/>
            </a:avLst>
          </a:prstGeom>
          <a:solidFill>
            <a:srgbClr val="FFFDF7"/>
          </a:solidFill>
          <a:ln w="9525">
            <a:solidFill>
              <a:srgbClr val="DCD5C5"/>
            </a:solidFill>
            <a:prstDash val="solid"/>
          </a:ln>
        </p:spPr>
      </p:sp>
      <p:sp>
        <p:nvSpPr>
          <p:cNvPr id="40" name="Shape 36"/>
          <p:cNvSpPr/>
          <p:nvPr/>
        </p:nvSpPr>
        <p:spPr>
          <a:xfrm>
            <a:off x="7166545" y="2011680"/>
            <a:ext cx="393192" cy="393192"/>
          </a:xfrm>
          <a:prstGeom prst="ellipse">
            <a:avLst/>
          </a:prstGeom>
          <a:solidFill>
            <a:srgbClr val="12796D"/>
          </a:solidFill>
          <a:ln/>
        </p:spPr>
      </p:sp>
      <p:sp>
        <p:nvSpPr>
          <p:cNvPr id="41" name="Text 37"/>
          <p:cNvSpPr txBox="1"/>
          <p:nvPr/>
        </p:nvSpPr>
        <p:spPr>
          <a:xfrm>
            <a:off x="7166545"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2" name="Text 38"/>
          <p:cNvSpPr txBox="1"/>
          <p:nvPr/>
        </p:nvSpPr>
        <p:spPr>
          <a:xfrm>
            <a:off x="7084249"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BRIEF</a:t>
            </a:r>
            <a:endParaRPr lang="en-US" sz="1100" dirty="0"/>
          </a:p>
        </p:txBody>
      </p:sp>
      <p:sp>
        <p:nvSpPr>
          <p:cNvPr id="43" name="Text 39"/>
          <p:cNvSpPr txBox="1"/>
          <p:nvPr/>
        </p:nvSpPr>
        <p:spPr>
          <a:xfrm>
            <a:off x="7084249"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Likely source + actions</a:t>
            </a:r>
            <a:endParaRPr lang="en-US" sz="850" dirty="0"/>
          </a:p>
        </p:txBody>
      </p:sp>
      <p:sp>
        <p:nvSpPr>
          <p:cNvPr id="44" name="Text 40"/>
          <p:cNvSpPr txBox="1"/>
          <p:nvPr/>
        </p:nvSpPr>
        <p:spPr>
          <a:xfrm>
            <a:off x="8375251"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45" name="Shape 41"/>
          <p:cNvSpPr/>
          <p:nvPr/>
        </p:nvSpPr>
        <p:spPr>
          <a:xfrm>
            <a:off x="8649571" y="1892808"/>
            <a:ext cx="1336722" cy="1389888"/>
          </a:xfrm>
          <a:prstGeom prst="roundRect">
            <a:avLst>
              <a:gd name="adj" fmla="val 6841"/>
            </a:avLst>
          </a:prstGeom>
          <a:solidFill>
            <a:srgbClr val="FFFDF7"/>
          </a:solidFill>
          <a:ln w="9525">
            <a:solidFill>
              <a:srgbClr val="DCD5C5"/>
            </a:solidFill>
            <a:prstDash val="solid"/>
          </a:ln>
        </p:spPr>
      </p:sp>
      <p:sp>
        <p:nvSpPr>
          <p:cNvPr id="46" name="Shape 42"/>
          <p:cNvSpPr/>
          <p:nvPr/>
        </p:nvSpPr>
        <p:spPr>
          <a:xfrm>
            <a:off x="8777587" y="2011680"/>
            <a:ext cx="393192" cy="393192"/>
          </a:xfrm>
          <a:prstGeom prst="ellipse">
            <a:avLst/>
          </a:prstGeom>
          <a:solidFill>
            <a:srgbClr val="12796D"/>
          </a:solidFill>
          <a:ln/>
        </p:spPr>
      </p:sp>
      <p:sp>
        <p:nvSpPr>
          <p:cNvPr id="47" name="Text 43"/>
          <p:cNvSpPr txBox="1"/>
          <p:nvPr/>
        </p:nvSpPr>
        <p:spPr>
          <a:xfrm>
            <a:off x="8777587"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48" name="Text 44"/>
          <p:cNvSpPr txBox="1"/>
          <p:nvPr/>
        </p:nvSpPr>
        <p:spPr>
          <a:xfrm>
            <a:off x="8695291"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APPROVE</a:t>
            </a:r>
            <a:endParaRPr lang="en-US" sz="1100" dirty="0"/>
          </a:p>
        </p:txBody>
      </p:sp>
      <p:sp>
        <p:nvSpPr>
          <p:cNvPr id="49" name="Text 45"/>
          <p:cNvSpPr txBox="1"/>
          <p:nvPr/>
        </p:nvSpPr>
        <p:spPr>
          <a:xfrm>
            <a:off x="8695291"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Officer decides</a:t>
            </a:r>
            <a:endParaRPr lang="en-US" sz="850" dirty="0"/>
          </a:p>
        </p:txBody>
      </p:sp>
      <p:sp>
        <p:nvSpPr>
          <p:cNvPr id="50" name="Text 46"/>
          <p:cNvSpPr txBox="1"/>
          <p:nvPr/>
        </p:nvSpPr>
        <p:spPr>
          <a:xfrm>
            <a:off x="9986293"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51" name="Shape 47"/>
          <p:cNvSpPr/>
          <p:nvPr/>
        </p:nvSpPr>
        <p:spPr>
          <a:xfrm>
            <a:off x="10260613" y="1892808"/>
            <a:ext cx="1336722" cy="1389888"/>
          </a:xfrm>
          <a:prstGeom prst="roundRect">
            <a:avLst>
              <a:gd name="adj" fmla="val 6841"/>
            </a:avLst>
          </a:prstGeom>
          <a:solidFill>
            <a:srgbClr val="FFFDF7"/>
          </a:solidFill>
          <a:ln w="9525">
            <a:solidFill>
              <a:srgbClr val="DCD5C5"/>
            </a:solidFill>
            <a:prstDash val="solid"/>
          </a:ln>
        </p:spPr>
      </p:sp>
      <p:sp>
        <p:nvSpPr>
          <p:cNvPr id="52" name="Shape 48"/>
          <p:cNvSpPr/>
          <p:nvPr/>
        </p:nvSpPr>
        <p:spPr>
          <a:xfrm>
            <a:off x="10388629" y="2011680"/>
            <a:ext cx="393192" cy="393192"/>
          </a:xfrm>
          <a:prstGeom prst="ellipse">
            <a:avLst/>
          </a:prstGeom>
          <a:solidFill>
            <a:srgbClr val="E8694A"/>
          </a:solidFill>
          <a:ln/>
        </p:spPr>
      </p:sp>
      <p:sp>
        <p:nvSpPr>
          <p:cNvPr id="53" name="Text 49"/>
          <p:cNvSpPr txBox="1"/>
          <p:nvPr/>
        </p:nvSpPr>
        <p:spPr>
          <a:xfrm>
            <a:off x="10388629"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54" name="Text 50"/>
          <p:cNvSpPr txBox="1"/>
          <p:nvPr/>
        </p:nvSpPr>
        <p:spPr>
          <a:xfrm>
            <a:off x="10306333"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ADVISE</a:t>
            </a:r>
            <a:endParaRPr lang="en-US" sz="1100" dirty="0"/>
          </a:p>
        </p:txBody>
      </p:sp>
      <p:sp>
        <p:nvSpPr>
          <p:cNvPr id="55" name="Text 51"/>
          <p:cNvSpPr txBox="1"/>
          <p:nvPr/>
        </p:nvSpPr>
        <p:spPr>
          <a:xfrm>
            <a:off x="10306333"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hi / pa / en voice</a:t>
            </a:r>
            <a:endParaRPr lang="en-US" sz="850" dirty="0"/>
          </a:p>
        </p:txBody>
      </p:sp>
      <p:sp>
        <p:nvSpPr>
          <p:cNvPr id="56" name="Shape 52"/>
          <p:cNvSpPr/>
          <p:nvPr/>
        </p:nvSpPr>
        <p:spPr>
          <a:xfrm>
            <a:off x="640080" y="3886200"/>
            <a:ext cx="3429000" cy="1417320"/>
          </a:xfrm>
          <a:prstGeom prst="roundRect">
            <a:avLst>
              <a:gd name="adj" fmla="val 5161"/>
            </a:avLst>
          </a:prstGeom>
          <a:solidFill>
            <a:srgbClr val="1B3149"/>
          </a:solidFill>
          <a:ln/>
        </p:spPr>
      </p:sp>
      <p:sp>
        <p:nvSpPr>
          <p:cNvPr id="57" name="Shape 53"/>
          <p:cNvSpPr/>
          <p:nvPr/>
        </p:nvSpPr>
        <p:spPr>
          <a:xfrm>
            <a:off x="868680" y="4114800"/>
            <a:ext cx="1417320" cy="310896"/>
          </a:xfrm>
          <a:prstGeom prst="roundRect">
            <a:avLst>
              <a:gd name="adj" fmla="val 23529"/>
            </a:avLst>
          </a:prstGeom>
          <a:solidFill>
            <a:srgbClr val="2A4A63"/>
          </a:solidFill>
          <a:ln/>
        </p:spPr>
      </p:sp>
      <p:sp>
        <p:nvSpPr>
          <p:cNvPr id="58" name="Text 54"/>
          <p:cNvSpPr txBox="1"/>
          <p:nvPr/>
        </p:nvSpPr>
        <p:spPr>
          <a:xfrm>
            <a:off x="86868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B9C4CF"/>
                </a:solidFill>
                <a:latin typeface="Arial" pitchFamily="34" charset="0"/>
                <a:ea typeface="Arial" pitchFamily="34" charset="-122"/>
                <a:cs typeface="Arial" pitchFamily="34" charset="-120"/>
              </a:rPr>
              <a:t>TIER 0 • AUTOMATIC</a:t>
            </a:r>
            <a:endParaRPr lang="en-US" sz="700" dirty="0"/>
          </a:p>
        </p:txBody>
      </p:sp>
      <p:sp>
        <p:nvSpPr>
          <p:cNvPr id="59" name="Text 55"/>
          <p:cNvSpPr txBox="1"/>
          <p:nvPr/>
        </p:nvSpPr>
        <p:spPr>
          <a:xfrm>
            <a:off x="86868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Photo check, fusion and scoring run in seconds. Nothing public goes out unapproved.</a:t>
            </a:r>
            <a:endParaRPr lang="en-US" sz="1100" dirty="0"/>
          </a:p>
        </p:txBody>
      </p:sp>
      <p:sp>
        <p:nvSpPr>
          <p:cNvPr id="60" name="Shape 56"/>
          <p:cNvSpPr/>
          <p:nvPr/>
        </p:nvSpPr>
        <p:spPr>
          <a:xfrm>
            <a:off x="4343400" y="3886200"/>
            <a:ext cx="3429000" cy="1417320"/>
          </a:xfrm>
          <a:prstGeom prst="roundRect">
            <a:avLst>
              <a:gd name="adj" fmla="val 5161"/>
            </a:avLst>
          </a:prstGeom>
          <a:solidFill>
            <a:srgbClr val="DCEEE8"/>
          </a:solidFill>
          <a:ln w="9525">
            <a:solidFill>
              <a:srgbClr val="12796D"/>
            </a:solidFill>
            <a:prstDash val="solid"/>
          </a:ln>
        </p:spPr>
      </p:sp>
      <p:sp>
        <p:nvSpPr>
          <p:cNvPr id="61" name="Shape 57"/>
          <p:cNvSpPr/>
          <p:nvPr/>
        </p:nvSpPr>
        <p:spPr>
          <a:xfrm>
            <a:off x="4572000" y="4114800"/>
            <a:ext cx="1417320" cy="310896"/>
          </a:xfrm>
          <a:prstGeom prst="roundRect">
            <a:avLst>
              <a:gd name="adj" fmla="val 23529"/>
            </a:avLst>
          </a:prstGeom>
          <a:solidFill>
            <a:srgbClr val="12796D"/>
          </a:solidFill>
          <a:ln/>
        </p:spPr>
      </p:sp>
      <p:sp>
        <p:nvSpPr>
          <p:cNvPr id="62" name="Text 58"/>
          <p:cNvSpPr txBox="1"/>
          <p:nvPr/>
        </p:nvSpPr>
        <p:spPr>
          <a:xfrm>
            <a:off x="457200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1 • OFFICER</a:t>
            </a:r>
            <a:endParaRPr lang="en-US" sz="700" dirty="0"/>
          </a:p>
        </p:txBody>
      </p:sp>
      <p:sp>
        <p:nvSpPr>
          <p:cNvPr id="63" name="Text 59"/>
          <p:cNvSpPr txBox="1"/>
          <p:nvPr/>
        </p:nvSpPr>
        <p:spPr>
          <a:xfrm>
            <a:off x="457200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Scores at or above the threshold (Delhi 70, Maharashtra 65) reach the jurisdiction’s inbox.</a:t>
            </a:r>
            <a:endParaRPr lang="en-US" sz="1100" dirty="0"/>
          </a:p>
        </p:txBody>
      </p:sp>
      <p:sp>
        <p:nvSpPr>
          <p:cNvPr id="64" name="Shape 60"/>
          <p:cNvSpPr/>
          <p:nvPr/>
        </p:nvSpPr>
        <p:spPr>
          <a:xfrm>
            <a:off x="8046720" y="3886200"/>
            <a:ext cx="3429000" cy="1417320"/>
          </a:xfrm>
          <a:prstGeom prst="roundRect">
            <a:avLst>
              <a:gd name="adj" fmla="val 5161"/>
            </a:avLst>
          </a:prstGeom>
          <a:solidFill>
            <a:srgbClr val="FBE6DE"/>
          </a:solidFill>
          <a:ln w="9525">
            <a:solidFill>
              <a:srgbClr val="E8694A"/>
            </a:solidFill>
            <a:prstDash val="solid"/>
          </a:ln>
        </p:spPr>
      </p:sp>
      <p:sp>
        <p:nvSpPr>
          <p:cNvPr id="65" name="Shape 61"/>
          <p:cNvSpPr/>
          <p:nvPr/>
        </p:nvSpPr>
        <p:spPr>
          <a:xfrm>
            <a:off x="8275320" y="4114800"/>
            <a:ext cx="1417320" cy="310896"/>
          </a:xfrm>
          <a:prstGeom prst="roundRect">
            <a:avLst>
              <a:gd name="adj" fmla="val 23529"/>
            </a:avLst>
          </a:prstGeom>
          <a:solidFill>
            <a:srgbClr val="E8694A"/>
          </a:solidFill>
          <a:ln/>
        </p:spPr>
      </p:sp>
      <p:sp>
        <p:nvSpPr>
          <p:cNvPr id="66" name="Text 62"/>
          <p:cNvSpPr txBox="1"/>
          <p:nvPr/>
        </p:nvSpPr>
        <p:spPr>
          <a:xfrm>
            <a:off x="827532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2 • CROSS-STATE</a:t>
            </a:r>
            <a:endParaRPr lang="en-US" sz="700" dirty="0"/>
          </a:p>
        </p:txBody>
      </p:sp>
      <p:sp>
        <p:nvSpPr>
          <p:cNvPr id="67" name="Text 63"/>
          <p:cNvSpPr txBox="1"/>
          <p:nvPr/>
        </p:nvSpPr>
        <p:spPr>
          <a:xfrm>
            <a:off x="827532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An upwind hotspot (Punjab → Delhi NCR) becomes an officer-approved cross-boundary alert.</a:t>
            </a:r>
            <a:endParaRPr lang="en-US" sz="1100" dirty="0"/>
          </a:p>
        </p:txBody>
      </p:sp>
      <p:sp>
        <p:nvSpPr>
          <p:cNvPr id="68" name="Text 64"/>
          <p:cNvSpPr txBox="1"/>
          <p:nvPr/>
        </p:nvSpPr>
        <p:spPr>
          <a:xfrm>
            <a:off x="658368" y="5760720"/>
            <a:ext cx="1828800" cy="182880"/>
          </a:xfrm>
          <a:prstGeom prst="rect">
            <a:avLst/>
          </a:prstGeom>
          <a:noFill/>
          <a:ln/>
        </p:spPr>
        <p:txBody>
          <a:bodyPr wrap="square" lIns="0" tIns="0" rIns="0" bIns="0" rtlCol="0" anchor="t"/>
          <a:lstStyle/>
          <a:p>
            <a:pPr indent="0" marL="0">
              <a:buNone/>
            </a:pPr>
            <a:r>
              <a:rPr lang="en-US" sz="800" b="1" spc="100" kern="0" dirty="0">
                <a:solidFill>
                  <a:srgbClr val="12796D"/>
                </a:solidFill>
                <a:latin typeface="Arial" pitchFamily="34" charset="0"/>
                <a:ea typeface="Arial" pitchFamily="34" charset="-122"/>
                <a:cs typeface="Arial" pitchFamily="34" charset="-120"/>
              </a:rPr>
              <a:t>CALIBRATION ASSUMPTION</a:t>
            </a:r>
            <a:endParaRPr lang="en-US" sz="800" dirty="0"/>
          </a:p>
        </p:txBody>
      </p:sp>
      <p:sp>
        <p:nvSpPr>
          <p:cNvPr id="69" name="Text 65"/>
          <p:cNvSpPr txBox="1"/>
          <p:nvPr/>
        </p:nvSpPr>
        <p:spPr>
          <a:xfrm>
            <a:off x="2560320" y="5705856"/>
            <a:ext cx="8961120" cy="32004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Weights 35/25/25/15 and thresholds are configured defaults to tune against pilot inspection outcomes.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04 — USERS &amp; CONTEXT</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Design for the officer first; connect the people around her.</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Two app roles (PRD §7): Environmental Officer (primary) and Citizen Reporter (secondary).</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Screenshot: officer dashboard, local demo run on labelled sample data. Stakeholders beyond the two roles are reached through approved alerts.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5</a:t>
            </a:r>
            <a:endParaRPr lang="en-US" sz="650" dirty="0"/>
          </a:p>
        </p:txBody>
      </p:sp>
      <p:pic>
        <p:nvPicPr>
          <p:cNvPr id="15" name="Image 1" descr="/Users/pavan/Documents/Code/Build_with_AI/air-quality-network/docs/pitch/assets/users-officer-alert.jpg">    </p:cNvPr>
          <p:cNvPicPr>
            <a:picLocks noChangeAspect="1"/>
          </p:cNvPicPr>
          <p:nvPr/>
        </p:nvPicPr>
        <p:blipFill>
          <a:blip r:embed="rId2"/>
          <a:srcRect l="0" r="0" t="0" b="0"/>
          <a:stretch/>
        </p:blipFill>
        <p:spPr>
          <a:xfrm>
            <a:off x="621792" y="1709928"/>
            <a:ext cx="4599432" cy="3017520"/>
          </a:xfrm>
          <a:prstGeom prst="rect">
            <a:avLst/>
          </a:prstGeom>
        </p:spPr>
      </p:pic>
      <p:sp>
        <p:nvSpPr>
          <p:cNvPr id="16" name="Shape 11"/>
          <p:cNvSpPr/>
          <p:nvPr/>
        </p:nvSpPr>
        <p:spPr>
          <a:xfrm>
            <a:off x="621792" y="4727448"/>
            <a:ext cx="4599432" cy="1243584"/>
          </a:xfrm>
          <a:prstGeom prst="rect">
            <a:avLst/>
          </a:prstGeom>
          <a:solidFill>
            <a:srgbClr val="1B3149"/>
          </a:solidFill>
          <a:ln/>
        </p:spPr>
      </p:sp>
      <p:sp>
        <p:nvSpPr>
          <p:cNvPr id="17" name="Text 12"/>
          <p:cNvSpPr txBox="1"/>
          <p:nvPr/>
        </p:nvSpPr>
        <p:spPr>
          <a:xfrm>
            <a:off x="896112" y="5020056"/>
            <a:ext cx="4050792" cy="182880"/>
          </a:xfrm>
          <a:prstGeom prst="rect">
            <a:avLst/>
          </a:prstGeom>
          <a:noFill/>
          <a:ln/>
        </p:spPr>
        <p:txBody>
          <a:bodyPr wrap="square" lIns="0" tIns="0" rIns="0" bIns="0" rtlCol="0" anchor="t"/>
          <a:lstStyle/>
          <a:p>
            <a:pPr indent="0" marL="0">
              <a:buNone/>
            </a:pPr>
            <a:r>
              <a:rPr lang="en-US" sz="1000" b="1" spc="100" kern="0" dirty="0">
                <a:solidFill>
                  <a:srgbClr val="9ED8CC"/>
                </a:solidFill>
                <a:latin typeface="Arial" pitchFamily="34" charset="0"/>
                <a:ea typeface="Arial" pitchFamily="34" charset="-122"/>
                <a:cs typeface="Arial" pitchFamily="34" charset="-120"/>
              </a:rPr>
              <a:t>ENVIRONMENTAL OFFICER  •  PRIMARY USER</a:t>
            </a:r>
            <a:endParaRPr lang="en-US" sz="1000" dirty="0"/>
          </a:p>
        </p:txBody>
      </p:sp>
      <p:sp>
        <p:nvSpPr>
          <p:cNvPr id="18" name="Text 13"/>
          <p:cNvSpPr txBox="1"/>
          <p:nvPr/>
        </p:nvSpPr>
        <p:spPr>
          <a:xfrm>
            <a:off x="896112" y="5321808"/>
            <a:ext cx="4050792" cy="45720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One alert: score, evidence and an inspection to approve</a:t>
            </a:r>
            <a:endParaRPr lang="en-US" sz="1600" dirty="0"/>
          </a:p>
        </p:txBody>
      </p:sp>
      <p:sp>
        <p:nvSpPr>
          <p:cNvPr id="19" name="Shape 14"/>
          <p:cNvSpPr/>
          <p:nvPr/>
        </p:nvSpPr>
        <p:spPr>
          <a:xfrm>
            <a:off x="5550408" y="1719072"/>
            <a:ext cx="5961888" cy="795528"/>
          </a:xfrm>
          <a:prstGeom prst="roundRect">
            <a:avLst>
              <a:gd name="adj" fmla="val 11494"/>
            </a:avLst>
          </a:prstGeom>
          <a:solidFill>
            <a:srgbClr val="FFFDF7"/>
          </a:solidFill>
          <a:ln w="9525">
            <a:solidFill>
              <a:srgbClr val="DCD5C5"/>
            </a:solidFill>
            <a:prstDash val="solid"/>
          </a:ln>
        </p:spPr>
      </p:sp>
      <p:sp>
        <p:nvSpPr>
          <p:cNvPr id="20" name="Shape 15"/>
          <p:cNvSpPr/>
          <p:nvPr/>
        </p:nvSpPr>
        <p:spPr>
          <a:xfrm>
            <a:off x="5742432" y="1911096"/>
            <a:ext cx="393192" cy="393192"/>
          </a:xfrm>
          <a:prstGeom prst="ellipse">
            <a:avLst/>
          </a:prstGeom>
          <a:solidFill>
            <a:srgbClr val="12796D"/>
          </a:solidFill>
          <a:ln/>
        </p:spPr>
      </p:sp>
      <p:sp>
        <p:nvSpPr>
          <p:cNvPr id="21" name="Text 16"/>
          <p:cNvSpPr txBox="1"/>
          <p:nvPr/>
        </p:nvSpPr>
        <p:spPr>
          <a:xfrm>
            <a:off x="5742432" y="191109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22" name="Text 17"/>
          <p:cNvSpPr txBox="1"/>
          <p:nvPr/>
        </p:nvSpPr>
        <p:spPr>
          <a:xfrm>
            <a:off x="6263640" y="1874520"/>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CITIZEN</a:t>
            </a:r>
            <a:endParaRPr lang="en-US" sz="1100" dirty="0"/>
          </a:p>
        </p:txBody>
      </p:sp>
      <p:sp>
        <p:nvSpPr>
          <p:cNvPr id="23" name="Text 18"/>
          <p:cNvSpPr txBox="1"/>
          <p:nvPr/>
        </p:nvSpPr>
        <p:spPr>
          <a:xfrm>
            <a:off x="6263640" y="2148840"/>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Reporter (secondary)</a:t>
            </a:r>
            <a:endParaRPr lang="en-US" sz="850" dirty="0"/>
          </a:p>
        </p:txBody>
      </p:sp>
      <p:sp>
        <p:nvSpPr>
          <p:cNvPr id="24" name="Text 19"/>
          <p:cNvSpPr txBox="1"/>
          <p:nvPr/>
        </p:nvSpPr>
        <p:spPr>
          <a:xfrm>
            <a:off x="7818120" y="1874520"/>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Reports by photo or voice in Hindi, Punjabi or English; sees status and hears advisories.</a:t>
            </a:r>
            <a:endParaRPr lang="en-US" sz="1000" dirty="0"/>
          </a:p>
        </p:txBody>
      </p:sp>
      <p:sp>
        <p:nvSpPr>
          <p:cNvPr id="25" name="Shape 20"/>
          <p:cNvSpPr/>
          <p:nvPr/>
        </p:nvSpPr>
        <p:spPr>
          <a:xfrm>
            <a:off x="5550408" y="2688336"/>
            <a:ext cx="5961888" cy="795528"/>
          </a:xfrm>
          <a:prstGeom prst="roundRect">
            <a:avLst>
              <a:gd name="adj" fmla="val 11494"/>
            </a:avLst>
          </a:prstGeom>
          <a:solidFill>
            <a:srgbClr val="DCEEE8"/>
          </a:solidFill>
          <a:ln w="9525">
            <a:solidFill>
              <a:srgbClr val="12796D"/>
            </a:solidFill>
            <a:prstDash val="solid"/>
          </a:ln>
        </p:spPr>
      </p:sp>
      <p:sp>
        <p:nvSpPr>
          <p:cNvPr id="26" name="Shape 21"/>
          <p:cNvSpPr/>
          <p:nvPr/>
        </p:nvSpPr>
        <p:spPr>
          <a:xfrm>
            <a:off x="5742432" y="2880360"/>
            <a:ext cx="393192" cy="393192"/>
          </a:xfrm>
          <a:prstGeom prst="ellipse">
            <a:avLst/>
          </a:prstGeom>
          <a:solidFill>
            <a:srgbClr val="12796D"/>
          </a:solidFill>
          <a:ln/>
        </p:spPr>
      </p:sp>
      <p:sp>
        <p:nvSpPr>
          <p:cNvPr id="27" name="Text 22"/>
          <p:cNvSpPr txBox="1"/>
          <p:nvPr/>
        </p:nvSpPr>
        <p:spPr>
          <a:xfrm>
            <a:off x="5742432" y="288036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8" name="Text 23"/>
          <p:cNvSpPr txBox="1"/>
          <p:nvPr/>
        </p:nvSpPr>
        <p:spPr>
          <a:xfrm>
            <a:off x="6263640" y="2843784"/>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FIELD TEAM</a:t>
            </a:r>
            <a:endParaRPr lang="en-US" sz="1100" dirty="0"/>
          </a:p>
        </p:txBody>
      </p:sp>
      <p:sp>
        <p:nvSpPr>
          <p:cNvPr id="29" name="Text 24"/>
          <p:cNvSpPr txBox="1"/>
          <p:nvPr/>
        </p:nvSpPr>
        <p:spPr>
          <a:xfrm>
            <a:off x="6263640" y="3118104"/>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Acts on approval</a:t>
            </a:r>
            <a:endParaRPr lang="en-US" sz="850" dirty="0"/>
          </a:p>
        </p:txBody>
      </p:sp>
      <p:sp>
        <p:nvSpPr>
          <p:cNvPr id="30" name="Text 25"/>
          <p:cNvSpPr txBox="1"/>
          <p:nvPr/>
        </p:nvSpPr>
        <p:spPr>
          <a:xfrm>
            <a:off x="7818120" y="2843784"/>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Gets a located, prioritised inspection instead of a city-wide average.</a:t>
            </a:r>
            <a:endParaRPr lang="en-US" sz="1000" dirty="0"/>
          </a:p>
        </p:txBody>
      </p:sp>
      <p:sp>
        <p:nvSpPr>
          <p:cNvPr id="31" name="Shape 26"/>
          <p:cNvSpPr/>
          <p:nvPr/>
        </p:nvSpPr>
        <p:spPr>
          <a:xfrm>
            <a:off x="5550408" y="3657600"/>
            <a:ext cx="5961888" cy="795528"/>
          </a:xfrm>
          <a:prstGeom prst="roundRect">
            <a:avLst>
              <a:gd name="adj" fmla="val 11494"/>
            </a:avLst>
          </a:prstGeom>
          <a:solidFill>
            <a:srgbClr val="FFFDF7"/>
          </a:solidFill>
          <a:ln w="9525">
            <a:solidFill>
              <a:srgbClr val="DCD5C5"/>
            </a:solidFill>
            <a:prstDash val="solid"/>
          </a:ln>
        </p:spPr>
      </p:sp>
      <p:sp>
        <p:nvSpPr>
          <p:cNvPr id="32" name="Shape 27"/>
          <p:cNvSpPr/>
          <p:nvPr/>
        </p:nvSpPr>
        <p:spPr>
          <a:xfrm>
            <a:off x="5742432" y="3849624"/>
            <a:ext cx="393192" cy="393192"/>
          </a:xfrm>
          <a:prstGeom prst="ellipse">
            <a:avLst/>
          </a:prstGeom>
          <a:solidFill>
            <a:srgbClr val="12796D"/>
          </a:solidFill>
          <a:ln/>
        </p:spPr>
      </p:sp>
      <p:sp>
        <p:nvSpPr>
          <p:cNvPr id="33" name="Text 28"/>
          <p:cNvSpPr txBox="1"/>
          <p:nvPr/>
        </p:nvSpPr>
        <p:spPr>
          <a:xfrm>
            <a:off x="5742432" y="384962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34" name="Text 29"/>
          <p:cNvSpPr txBox="1"/>
          <p:nvPr/>
        </p:nvSpPr>
        <p:spPr>
          <a:xfrm>
            <a:off x="6263640" y="3813048"/>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NEIGHBOUR SPCB</a:t>
            </a:r>
            <a:endParaRPr lang="en-US" sz="1100" dirty="0"/>
          </a:p>
        </p:txBody>
      </p:sp>
      <p:sp>
        <p:nvSpPr>
          <p:cNvPr id="35" name="Text 30"/>
          <p:cNvSpPr txBox="1"/>
          <p:nvPr/>
        </p:nvSpPr>
        <p:spPr>
          <a:xfrm>
            <a:off x="6263640" y="4087368"/>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Cross-boundary</a:t>
            </a:r>
            <a:endParaRPr lang="en-US" sz="850" dirty="0"/>
          </a:p>
        </p:txBody>
      </p:sp>
      <p:sp>
        <p:nvSpPr>
          <p:cNvPr id="36" name="Text 31"/>
          <p:cNvSpPr txBox="1"/>
          <p:nvPr/>
        </p:nvSpPr>
        <p:spPr>
          <a:xfrm>
            <a:off x="7818120" y="3813048"/>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Receives approved alerts for upwind smoke, e.g. Punjab → Delhi NCR.</a:t>
            </a:r>
            <a:endParaRPr lang="en-US" sz="1000" dirty="0"/>
          </a:p>
        </p:txBody>
      </p:sp>
      <p:sp>
        <p:nvSpPr>
          <p:cNvPr id="37" name="Shape 32"/>
          <p:cNvSpPr/>
          <p:nvPr/>
        </p:nvSpPr>
        <p:spPr>
          <a:xfrm>
            <a:off x="5550408" y="4626864"/>
            <a:ext cx="5961888" cy="795528"/>
          </a:xfrm>
          <a:prstGeom prst="roundRect">
            <a:avLst>
              <a:gd name="adj" fmla="val 11494"/>
            </a:avLst>
          </a:prstGeom>
          <a:solidFill>
            <a:srgbClr val="FFFDF7"/>
          </a:solidFill>
          <a:ln w="9525">
            <a:solidFill>
              <a:srgbClr val="DCD5C5"/>
            </a:solidFill>
            <a:prstDash val="solid"/>
          </a:ln>
        </p:spPr>
      </p:sp>
      <p:sp>
        <p:nvSpPr>
          <p:cNvPr id="38" name="Shape 33"/>
          <p:cNvSpPr/>
          <p:nvPr/>
        </p:nvSpPr>
        <p:spPr>
          <a:xfrm>
            <a:off x="5742432" y="4818888"/>
            <a:ext cx="393192" cy="393192"/>
          </a:xfrm>
          <a:prstGeom prst="ellipse">
            <a:avLst/>
          </a:prstGeom>
          <a:solidFill>
            <a:srgbClr val="E8694A"/>
          </a:solidFill>
          <a:ln/>
        </p:spPr>
      </p:sp>
      <p:sp>
        <p:nvSpPr>
          <p:cNvPr id="39" name="Text 34"/>
          <p:cNvSpPr txBox="1"/>
          <p:nvPr/>
        </p:nvSpPr>
        <p:spPr>
          <a:xfrm>
            <a:off x="5742432" y="4818888"/>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40" name="Text 35"/>
          <p:cNvSpPr txBox="1"/>
          <p:nvPr/>
        </p:nvSpPr>
        <p:spPr>
          <a:xfrm>
            <a:off x="6263640" y="4782312"/>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CAQM / STATE</a:t>
            </a:r>
            <a:endParaRPr lang="en-US" sz="1100" dirty="0"/>
          </a:p>
        </p:txBody>
      </p:sp>
      <p:sp>
        <p:nvSpPr>
          <p:cNvPr id="41" name="Text 36"/>
          <p:cNvSpPr txBox="1"/>
          <p:nvPr/>
        </p:nvSpPr>
        <p:spPr>
          <a:xfrm>
            <a:off x="6263640" y="5056632"/>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Oversight</a:t>
            </a:r>
            <a:endParaRPr lang="en-US" sz="850" dirty="0"/>
          </a:p>
        </p:txBody>
      </p:sp>
      <p:sp>
        <p:nvSpPr>
          <p:cNvPr id="42" name="Text 37"/>
          <p:cNvSpPr txBox="1"/>
          <p:nvPr/>
        </p:nvSpPr>
        <p:spPr>
          <a:xfrm>
            <a:off x="7818120" y="4782312"/>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Sees audit trails and when a GRAP-stage review is recommended.</a:t>
            </a:r>
            <a:endParaRPr lang="en-US" sz="1000" dirty="0"/>
          </a:p>
        </p:txBody>
      </p:sp>
      <p:sp>
        <p:nvSpPr>
          <p:cNvPr id="43" name="Text 38"/>
          <p:cNvSpPr txBox="1"/>
          <p:nvPr/>
        </p:nvSpPr>
        <p:spPr>
          <a:xfrm>
            <a:off x="5577840" y="559612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CONSTRAINT → DESIGN RESPONSE</a:t>
            </a:r>
            <a:endParaRPr lang="en-US" sz="800" dirty="0"/>
          </a:p>
        </p:txBody>
      </p:sp>
      <p:sp>
        <p:nvSpPr>
          <p:cNvPr id="44" name="Shape 39"/>
          <p:cNvSpPr/>
          <p:nvPr/>
        </p:nvSpPr>
        <p:spPr>
          <a:xfrm>
            <a:off x="5577840" y="5824728"/>
            <a:ext cx="1783080" cy="347472"/>
          </a:xfrm>
          <a:prstGeom prst="roundRect">
            <a:avLst>
              <a:gd name="adj" fmla="val 21053"/>
            </a:avLst>
          </a:prstGeom>
          <a:solidFill>
            <a:srgbClr val="FFFDF7"/>
          </a:solidFill>
          <a:ln w="9525">
            <a:solidFill>
              <a:srgbClr val="DCD5C5"/>
            </a:solidFill>
            <a:prstDash val="solid"/>
          </a:ln>
        </p:spPr>
      </p:sp>
      <p:sp>
        <p:nvSpPr>
          <p:cNvPr id="45" name="Text 40"/>
          <p:cNvSpPr txBox="1"/>
          <p:nvPr/>
        </p:nvSpPr>
        <p:spPr>
          <a:xfrm>
            <a:off x="565099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FEW STAFF</a:t>
            </a:r>
            <a:endParaRPr lang="en-US" sz="650" dirty="0"/>
          </a:p>
        </p:txBody>
      </p:sp>
      <p:sp>
        <p:nvSpPr>
          <p:cNvPr id="46" name="Text 41"/>
          <p:cNvSpPr txBox="1"/>
          <p:nvPr/>
        </p:nvSpPr>
        <p:spPr>
          <a:xfrm>
            <a:off x="632764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ranked, located briefs</a:t>
            </a:r>
            <a:endParaRPr lang="en-US" sz="750" dirty="0"/>
          </a:p>
        </p:txBody>
      </p:sp>
      <p:sp>
        <p:nvSpPr>
          <p:cNvPr id="47" name="Shape 42"/>
          <p:cNvSpPr/>
          <p:nvPr/>
        </p:nvSpPr>
        <p:spPr>
          <a:xfrm>
            <a:off x="7498080" y="5824728"/>
            <a:ext cx="1783080" cy="347472"/>
          </a:xfrm>
          <a:prstGeom prst="roundRect">
            <a:avLst>
              <a:gd name="adj" fmla="val 21053"/>
            </a:avLst>
          </a:prstGeom>
          <a:solidFill>
            <a:srgbClr val="FFFDF7"/>
          </a:solidFill>
          <a:ln w="9525">
            <a:solidFill>
              <a:srgbClr val="DCD5C5"/>
            </a:solidFill>
            <a:prstDash val="solid"/>
          </a:ln>
        </p:spPr>
      </p:sp>
      <p:sp>
        <p:nvSpPr>
          <p:cNvPr id="48" name="Text 43"/>
          <p:cNvSpPr txBox="1"/>
          <p:nvPr/>
        </p:nvSpPr>
        <p:spPr>
          <a:xfrm>
            <a:off x="757123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LANGUAGE</a:t>
            </a:r>
            <a:endParaRPr lang="en-US" sz="650" dirty="0"/>
          </a:p>
        </p:txBody>
      </p:sp>
      <p:sp>
        <p:nvSpPr>
          <p:cNvPr id="49" name="Text 44"/>
          <p:cNvSpPr txBox="1"/>
          <p:nvPr/>
        </p:nvSpPr>
        <p:spPr>
          <a:xfrm>
            <a:off x="824788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hi / pa / en + voice</a:t>
            </a:r>
            <a:endParaRPr lang="en-US" sz="750" dirty="0"/>
          </a:p>
        </p:txBody>
      </p:sp>
      <p:sp>
        <p:nvSpPr>
          <p:cNvPr id="50" name="Shape 45"/>
          <p:cNvSpPr/>
          <p:nvPr/>
        </p:nvSpPr>
        <p:spPr>
          <a:xfrm>
            <a:off x="9418320" y="5824728"/>
            <a:ext cx="1783080" cy="347472"/>
          </a:xfrm>
          <a:prstGeom prst="roundRect">
            <a:avLst>
              <a:gd name="adj" fmla="val 21053"/>
            </a:avLst>
          </a:prstGeom>
          <a:solidFill>
            <a:srgbClr val="FFFDF7"/>
          </a:solidFill>
          <a:ln w="9525">
            <a:solidFill>
              <a:srgbClr val="DCD5C5"/>
            </a:solidFill>
            <a:prstDash val="solid"/>
          </a:ln>
        </p:spPr>
      </p:sp>
      <p:sp>
        <p:nvSpPr>
          <p:cNvPr id="51" name="Text 46"/>
          <p:cNvSpPr txBox="1"/>
          <p:nvPr/>
        </p:nvSpPr>
        <p:spPr>
          <a:xfrm>
            <a:off x="949147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PATCHY DATA</a:t>
            </a:r>
            <a:endParaRPr lang="en-US" sz="650" dirty="0"/>
          </a:p>
        </p:txBody>
      </p:sp>
      <p:sp>
        <p:nvSpPr>
          <p:cNvPr id="52" name="Text 47"/>
          <p:cNvSpPr txBox="1"/>
          <p:nvPr/>
        </p:nvSpPr>
        <p:spPr>
          <a:xfrm>
            <a:off x="1016812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freshness + labels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05 — JOURNEY</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Scenario A: night-time smoke in East Delhi.</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One Hindi voice report pushes a hidden hotspot over the threshold (PRD §43–44).</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Local demo run, 30 Sep 2026, on labelled sample/simulated data; routed to the DPCC demo inbox. Live Gemini values vary by a point or two.</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6</a:t>
            </a:r>
            <a:endParaRPr lang="en-US" sz="650" dirty="0"/>
          </a:p>
        </p:txBody>
      </p:sp>
      <p:sp>
        <p:nvSpPr>
          <p:cNvPr id="15" name="Shape 11"/>
          <p:cNvSpPr/>
          <p:nvPr/>
        </p:nvSpPr>
        <p:spPr>
          <a:xfrm>
            <a:off x="621792" y="1755648"/>
            <a:ext cx="2496312" cy="1417320"/>
          </a:xfrm>
          <a:prstGeom prst="roundRect">
            <a:avLst>
              <a:gd name="adj" fmla="val 6452"/>
            </a:avLst>
          </a:prstGeom>
          <a:solidFill>
            <a:srgbClr val="FFFDF7"/>
          </a:solidFill>
          <a:ln w="9525">
            <a:solidFill>
              <a:srgbClr val="DCD5C5"/>
            </a:solidFill>
            <a:prstDash val="solid"/>
          </a:ln>
        </p:spPr>
      </p:sp>
      <p:sp>
        <p:nvSpPr>
          <p:cNvPr id="16" name="Text 12"/>
          <p:cNvSpPr txBox="1"/>
          <p:nvPr/>
        </p:nvSpPr>
        <p:spPr>
          <a:xfrm>
            <a:off x="777240"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BEFORE</a:t>
            </a:r>
            <a:endParaRPr lang="en-US" sz="750" dirty="0"/>
          </a:p>
        </p:txBody>
      </p:sp>
      <p:sp>
        <p:nvSpPr>
          <p:cNvPr id="17" name="Text 13"/>
          <p:cNvSpPr txBox="1"/>
          <p:nvPr/>
        </p:nvSpPr>
        <p:spPr>
          <a:xfrm>
            <a:off x="777240"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Station reads 112</a:t>
            </a:r>
            <a:endParaRPr lang="en-US" sz="1250" dirty="0"/>
          </a:p>
        </p:txBody>
      </p:sp>
      <p:sp>
        <p:nvSpPr>
          <p:cNvPr id="18" name="Text 14"/>
          <p:cNvSpPr txBox="1"/>
          <p:nvPr/>
        </p:nvSpPr>
        <p:spPr>
          <a:xfrm>
            <a:off x="777240"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Sample station 4.9 km away; the local cell scores 66, under 70.</a:t>
            </a:r>
            <a:endParaRPr lang="en-US" sz="950" dirty="0"/>
          </a:p>
        </p:txBody>
      </p:sp>
      <p:sp>
        <p:nvSpPr>
          <p:cNvPr id="19" name="Text 15"/>
          <p:cNvSpPr txBox="1"/>
          <p:nvPr/>
        </p:nvSpPr>
        <p:spPr>
          <a:xfrm>
            <a:off x="3118104"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0" name="Shape 16"/>
          <p:cNvSpPr/>
          <p:nvPr/>
        </p:nvSpPr>
        <p:spPr>
          <a:xfrm>
            <a:off x="3392424" y="1755648"/>
            <a:ext cx="2496312" cy="1417320"/>
          </a:xfrm>
          <a:prstGeom prst="roundRect">
            <a:avLst>
              <a:gd name="adj" fmla="val 6452"/>
            </a:avLst>
          </a:prstGeom>
          <a:solidFill>
            <a:srgbClr val="FFFDF7"/>
          </a:solidFill>
          <a:ln w="9525">
            <a:solidFill>
              <a:srgbClr val="DCD5C5"/>
            </a:solidFill>
            <a:prstDash val="solid"/>
          </a:ln>
        </p:spPr>
      </p:sp>
      <p:sp>
        <p:nvSpPr>
          <p:cNvPr id="21" name="Text 17"/>
          <p:cNvSpPr txBox="1"/>
          <p:nvPr/>
        </p:nvSpPr>
        <p:spPr>
          <a:xfrm>
            <a:off x="3547872"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CITIZEN, IN HINDI</a:t>
            </a:r>
            <a:endParaRPr lang="en-US" sz="750" dirty="0"/>
          </a:p>
        </p:txBody>
      </p:sp>
      <p:sp>
        <p:nvSpPr>
          <p:cNvPr id="22" name="Text 18"/>
          <p:cNvSpPr txBox="1"/>
          <p:nvPr/>
        </p:nvSpPr>
        <p:spPr>
          <a:xfrm>
            <a:off x="3547872"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Photo + voice note</a:t>
            </a:r>
            <a:endParaRPr lang="en-US" sz="1250" dirty="0"/>
          </a:p>
        </p:txBody>
      </p:sp>
      <p:sp>
        <p:nvSpPr>
          <p:cNvPr id="23" name="Text 19"/>
          <p:cNvSpPr txBox="1"/>
          <p:nvPr/>
        </p:nvSpPr>
        <p:spPr>
          <a:xfrm>
            <a:off x="3547872"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industrial emission, severity 4/5, confidence 0.86.</a:t>
            </a:r>
            <a:endParaRPr lang="en-US" sz="950" dirty="0"/>
          </a:p>
        </p:txBody>
      </p:sp>
      <p:sp>
        <p:nvSpPr>
          <p:cNvPr id="24" name="Text 20"/>
          <p:cNvSpPr txBox="1"/>
          <p:nvPr/>
        </p:nvSpPr>
        <p:spPr>
          <a:xfrm>
            <a:off x="5888736"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5" name="Shape 21"/>
          <p:cNvSpPr/>
          <p:nvPr/>
        </p:nvSpPr>
        <p:spPr>
          <a:xfrm>
            <a:off x="6163056" y="1755648"/>
            <a:ext cx="2496312" cy="1417320"/>
          </a:xfrm>
          <a:prstGeom prst="roundRect">
            <a:avLst>
              <a:gd name="adj" fmla="val 6452"/>
            </a:avLst>
          </a:prstGeom>
          <a:solidFill>
            <a:srgbClr val="DCEEE8"/>
          </a:solidFill>
          <a:ln w="9525">
            <a:solidFill>
              <a:srgbClr val="12796D"/>
            </a:solidFill>
            <a:prstDash val="solid"/>
          </a:ln>
        </p:spPr>
      </p:sp>
      <p:sp>
        <p:nvSpPr>
          <p:cNvPr id="26" name="Text 22"/>
          <p:cNvSpPr txBox="1"/>
          <p:nvPr/>
        </p:nvSpPr>
        <p:spPr>
          <a:xfrm>
            <a:off x="6318504" y="1956816"/>
            <a:ext cx="2221992" cy="146304"/>
          </a:xfrm>
          <a:prstGeom prst="rect">
            <a:avLst/>
          </a:prstGeom>
          <a:noFill/>
          <a:ln/>
        </p:spPr>
        <p:txBody>
          <a:bodyPr wrap="square" lIns="0" tIns="0" rIns="0" bIns="0" rtlCol="0" anchor="t"/>
          <a:lstStyle/>
          <a:p>
            <a:pPr indent="0" marL="0">
              <a:buNone/>
            </a:pPr>
            <a:r>
              <a:rPr lang="en-US" sz="750" b="1" dirty="0">
                <a:solidFill>
                  <a:srgbClr val="12796D"/>
                </a:solidFill>
                <a:latin typeface="Arial" pitchFamily="34" charset="0"/>
                <a:ea typeface="Arial" pitchFamily="34" charset="-122"/>
                <a:cs typeface="Arial" pitchFamily="34" charset="-120"/>
              </a:rPr>
              <a:t>FUSION</a:t>
            </a:r>
            <a:endParaRPr lang="en-US" sz="750" dirty="0"/>
          </a:p>
        </p:txBody>
      </p:sp>
      <p:sp>
        <p:nvSpPr>
          <p:cNvPr id="27" name="Text 23"/>
          <p:cNvSpPr txBox="1"/>
          <p:nvPr/>
        </p:nvSpPr>
        <p:spPr>
          <a:xfrm>
            <a:off x="6318504"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Hotspot 83 / 100</a:t>
            </a:r>
            <a:endParaRPr lang="en-US" sz="1250" dirty="0"/>
          </a:p>
        </p:txBody>
      </p:sp>
      <p:sp>
        <p:nvSpPr>
          <p:cNvPr id="28" name="Text 24"/>
          <p:cNvSpPr txBox="1"/>
          <p:nvPr/>
        </p:nvSpPr>
        <p:spPr>
          <a:xfrm>
            <a:off x="6318504"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Sensor +35 • satellite +16 • report +17.2 • weather +14.8.</a:t>
            </a:r>
            <a:endParaRPr lang="en-US" sz="950" dirty="0"/>
          </a:p>
        </p:txBody>
      </p:sp>
      <p:sp>
        <p:nvSpPr>
          <p:cNvPr id="29" name="Text 25"/>
          <p:cNvSpPr txBox="1"/>
          <p:nvPr/>
        </p:nvSpPr>
        <p:spPr>
          <a:xfrm>
            <a:off x="8659368"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0" name="Shape 26"/>
          <p:cNvSpPr/>
          <p:nvPr/>
        </p:nvSpPr>
        <p:spPr>
          <a:xfrm>
            <a:off x="8933688" y="1755648"/>
            <a:ext cx="2496312" cy="1417320"/>
          </a:xfrm>
          <a:prstGeom prst="roundRect">
            <a:avLst>
              <a:gd name="adj" fmla="val 6452"/>
            </a:avLst>
          </a:prstGeom>
          <a:solidFill>
            <a:srgbClr val="FFFDF7"/>
          </a:solidFill>
          <a:ln w="9525">
            <a:solidFill>
              <a:srgbClr val="DCD5C5"/>
            </a:solidFill>
            <a:prstDash val="solid"/>
          </a:ln>
        </p:spPr>
      </p:sp>
      <p:sp>
        <p:nvSpPr>
          <p:cNvPr id="31" name="Text 27"/>
          <p:cNvSpPr txBox="1"/>
          <p:nvPr/>
        </p:nvSpPr>
        <p:spPr>
          <a:xfrm>
            <a:off x="9089136"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OFFICER</a:t>
            </a:r>
            <a:endParaRPr lang="en-US" sz="750" dirty="0"/>
          </a:p>
        </p:txBody>
      </p:sp>
      <p:sp>
        <p:nvSpPr>
          <p:cNvPr id="32" name="Text 28"/>
          <p:cNvSpPr txBox="1"/>
          <p:nvPr/>
        </p:nvSpPr>
        <p:spPr>
          <a:xfrm>
            <a:off x="9089136"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Approves inspection</a:t>
            </a:r>
            <a:endParaRPr lang="en-US" sz="1250" dirty="0"/>
          </a:p>
        </p:txBody>
      </p:sp>
      <p:sp>
        <p:nvSpPr>
          <p:cNvPr id="33" name="Text 29"/>
          <p:cNvSpPr txBox="1"/>
          <p:nvPr/>
        </p:nvSpPr>
        <p:spPr>
          <a:xfrm>
            <a:off x="9089136"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Night-time check of upwind units; action recorded, alert closed.</a:t>
            </a:r>
            <a:endParaRPr lang="en-US" sz="950" dirty="0"/>
          </a:p>
        </p:txBody>
      </p:sp>
      <p:sp>
        <p:nvSpPr>
          <p:cNvPr id="34" name="Shape 30"/>
          <p:cNvSpPr/>
          <p:nvPr/>
        </p:nvSpPr>
        <p:spPr>
          <a:xfrm>
            <a:off x="621792" y="3611880"/>
            <a:ext cx="11000232" cy="2221992"/>
          </a:xfrm>
          <a:prstGeom prst="roundRect">
            <a:avLst>
              <a:gd name="adj" fmla="val 3292"/>
            </a:avLst>
          </a:prstGeom>
          <a:solidFill>
            <a:srgbClr val="1B3149"/>
          </a:solidFill>
          <a:ln/>
        </p:spPr>
      </p:sp>
      <p:sp>
        <p:nvSpPr>
          <p:cNvPr id="35" name="Text 31"/>
          <p:cNvSpPr txBox="1"/>
          <p:nvPr/>
        </p:nvSpPr>
        <p:spPr>
          <a:xfrm>
            <a:off x="896112" y="3895344"/>
            <a:ext cx="2743200" cy="146304"/>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OUTCOME</a:t>
            </a:r>
            <a:endParaRPr lang="en-US" sz="850" dirty="0"/>
          </a:p>
        </p:txBody>
      </p:sp>
      <p:sp>
        <p:nvSpPr>
          <p:cNvPr id="36" name="Text 32"/>
          <p:cNvSpPr txBox="1"/>
          <p:nvPr/>
        </p:nvSpPr>
        <p:spPr>
          <a:xfrm>
            <a:off x="896112" y="4206240"/>
            <a:ext cx="3108960" cy="822960"/>
          </a:xfrm>
          <a:prstGeom prst="rect">
            <a:avLst/>
          </a:prstGeom>
          <a:noFill/>
          <a:ln/>
        </p:spPr>
        <p:txBody>
          <a:bodyPr wrap="square" lIns="0" tIns="0" rIns="0" bIns="0" rtlCol="0" anchor="b">
            <a:normAutofit/>
          </a:bodyPr>
          <a:lstStyle/>
          <a:p>
            <a:pPr indent="0" marL="0">
              <a:buNone/>
            </a:pPr>
            <a:r>
              <a:rPr lang="en-US" sz="2000" b="1" dirty="0">
                <a:solidFill>
                  <a:srgbClr val="FFFFFF"/>
                </a:solidFill>
                <a:latin typeface="Arial" pitchFamily="34" charset="0"/>
                <a:ea typeface="Arial" pitchFamily="34" charset="-122"/>
                <a:cs typeface="Arial" pitchFamily="34" charset="-120"/>
              </a:rPr>
              <a:t>One photo → one approved inspection.</a:t>
            </a:r>
            <a:endParaRPr lang="en-US" sz="2000" dirty="0"/>
          </a:p>
        </p:txBody>
      </p:sp>
      <p:sp>
        <p:nvSpPr>
          <p:cNvPr id="37" name="Text 33"/>
          <p:cNvSpPr txBox="1"/>
          <p:nvPr/>
        </p:nvSpPr>
        <p:spPr>
          <a:xfrm>
            <a:off x="896112" y="5138928"/>
            <a:ext cx="3108960" cy="457200"/>
          </a:xfrm>
          <a:prstGeom prst="rect">
            <a:avLst/>
          </a:prstGeom>
          <a:noFill/>
          <a:ln/>
        </p:spPr>
        <p:txBody>
          <a:bodyPr wrap="square" lIns="0" tIns="0" rIns="0" bIns="0" rtlCol="0" anchor="t">
            <a:normAutofit/>
          </a:bodyPr>
          <a:lstStyle/>
          <a:p>
            <a:pPr indent="0" marL="0">
              <a:buNone/>
            </a:pPr>
            <a:r>
              <a:rPr lang="en-US" sz="1050" dirty="0">
                <a:solidFill>
                  <a:srgbClr val="D5DDE4"/>
                </a:solidFill>
                <a:latin typeface="Arial" pitchFamily="34" charset="0"/>
                <a:ea typeface="Arial" pitchFamily="34" charset="-122"/>
                <a:cs typeface="Arial" pitchFamily="34" charset="-120"/>
              </a:rPr>
              <a:t>24 h outlook: ~201 µg/m³ (185–218), Very Poor.</a:t>
            </a:r>
            <a:endParaRPr lang="en-US" sz="1050" dirty="0"/>
          </a:p>
        </p:txBody>
      </p:sp>
      <p:sp>
        <p:nvSpPr>
          <p:cNvPr id="38" name="Shape 34"/>
          <p:cNvSpPr/>
          <p:nvPr/>
        </p:nvSpPr>
        <p:spPr>
          <a:xfrm>
            <a:off x="4160520" y="4160520"/>
            <a:ext cx="402336" cy="402336"/>
          </a:xfrm>
          <a:prstGeom prst="ellipse">
            <a:avLst/>
          </a:prstGeom>
          <a:solidFill>
            <a:srgbClr val="12796D"/>
          </a:solidFill>
          <a:ln/>
        </p:spPr>
      </p:sp>
      <p:sp>
        <p:nvSpPr>
          <p:cNvPr id="39" name="Text 35"/>
          <p:cNvSpPr txBox="1"/>
          <p:nvPr/>
        </p:nvSpPr>
        <p:spPr>
          <a:xfrm>
            <a:off x="4160520"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0" name="Text 36"/>
          <p:cNvSpPr txBox="1"/>
          <p:nvPr/>
        </p:nvSpPr>
        <p:spPr>
          <a:xfrm>
            <a:off x="4663440"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Voice advisory in hi / pa after approval</a:t>
            </a:r>
            <a:endParaRPr lang="en-US" sz="1150" dirty="0"/>
          </a:p>
        </p:txBody>
      </p:sp>
      <p:sp>
        <p:nvSpPr>
          <p:cNvPr id="41" name="Shape 37"/>
          <p:cNvSpPr/>
          <p:nvPr/>
        </p:nvSpPr>
        <p:spPr>
          <a:xfrm>
            <a:off x="6428232" y="4160520"/>
            <a:ext cx="402336" cy="402336"/>
          </a:xfrm>
          <a:prstGeom prst="ellipse">
            <a:avLst/>
          </a:prstGeom>
          <a:solidFill>
            <a:srgbClr val="12796D"/>
          </a:solidFill>
          <a:ln/>
        </p:spPr>
      </p:sp>
      <p:sp>
        <p:nvSpPr>
          <p:cNvPr id="42" name="Text 38"/>
          <p:cNvSpPr txBox="1"/>
          <p:nvPr/>
        </p:nvSpPr>
        <p:spPr>
          <a:xfrm>
            <a:off x="6428232"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3" name="Text 39"/>
          <p:cNvSpPr txBox="1"/>
          <p:nvPr/>
        </p:nvSpPr>
        <p:spPr>
          <a:xfrm>
            <a:off x="6931152"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Audit trail for every step</a:t>
            </a:r>
            <a:endParaRPr lang="en-US" sz="1150" dirty="0"/>
          </a:p>
        </p:txBody>
      </p:sp>
      <p:sp>
        <p:nvSpPr>
          <p:cNvPr id="44" name="Shape 40"/>
          <p:cNvSpPr/>
          <p:nvPr/>
        </p:nvSpPr>
        <p:spPr>
          <a:xfrm>
            <a:off x="8695944" y="4160520"/>
            <a:ext cx="402336" cy="402336"/>
          </a:xfrm>
          <a:prstGeom prst="ellipse">
            <a:avLst/>
          </a:prstGeom>
          <a:solidFill>
            <a:srgbClr val="E8694A"/>
          </a:solidFill>
          <a:ln/>
        </p:spPr>
      </p:sp>
      <p:sp>
        <p:nvSpPr>
          <p:cNvPr id="45" name="Text 41"/>
          <p:cNvSpPr txBox="1"/>
          <p:nvPr/>
        </p:nvSpPr>
        <p:spPr>
          <a:xfrm>
            <a:off x="8695944"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2"/>
          <p:cNvSpPr txBox="1"/>
          <p:nvPr/>
        </p:nvSpPr>
        <p:spPr>
          <a:xfrm>
            <a:off x="9198864"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Cross-boundary alert if upwind</a:t>
            </a:r>
            <a:endParaRPr lang="en-US" sz="1150" dirty="0"/>
          </a:p>
        </p:txBody>
      </p:sp>
      <p:sp>
        <p:nvSpPr>
          <p:cNvPr id="47" name="Text 43"/>
          <p:cNvSpPr txBox="1"/>
          <p:nvPr/>
        </p:nvSpPr>
        <p:spPr>
          <a:xfrm>
            <a:off x="4160520" y="5138928"/>
            <a:ext cx="1554480" cy="182880"/>
          </a:xfrm>
          <a:prstGeom prst="rect">
            <a:avLst/>
          </a:prstGeom>
          <a:noFill/>
          <a:ln/>
        </p:spPr>
        <p:txBody>
          <a:bodyPr wrap="square" lIns="0" tIns="0" rIns="0" bIns="0" rtlCol="0" anchor="t"/>
          <a:lstStyle/>
          <a:p>
            <a:pPr indent="0" marL="0">
              <a:buNone/>
            </a:pPr>
            <a:r>
              <a:rPr lang="en-US" sz="750" b="1" dirty="0">
                <a:solidFill>
                  <a:srgbClr val="F3CB7A"/>
                </a:solidFill>
                <a:latin typeface="Arial" pitchFamily="34" charset="0"/>
                <a:ea typeface="Arial" pitchFamily="34" charset="-122"/>
                <a:cs typeface="Arial" pitchFamily="34" charset="-120"/>
              </a:rPr>
              <a:t>WHY OFFICERS RETURN</a:t>
            </a:r>
            <a:endParaRPr lang="en-US" sz="750" dirty="0"/>
          </a:p>
        </p:txBody>
      </p:sp>
      <p:sp>
        <p:nvSpPr>
          <p:cNvPr id="48" name="Text 44"/>
          <p:cNvSpPr txBox="1"/>
          <p:nvPr/>
        </p:nvSpPr>
        <p:spPr>
          <a:xfrm>
            <a:off x="5715000" y="5029200"/>
            <a:ext cx="5669280" cy="45720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Prioritised, located work where every number is traceable to a source and a timestamp.</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06 — INNOVATION &amp; DIFFERENTIATION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Not another AQI dashboard. A bridge from evidence to action.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Existing systems do essential work; VayuDrishti focuses on the local event nobody has verified yet.</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[1] PRD §2.1.  [2] CPCB National AQI.  [3] SAFAR, IITM Pune (MoES).  [4] Commission for Air Quality Management.</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7</a:t>
            </a:r>
            <a:endParaRPr lang="en-US" sz="650" dirty="0"/>
          </a:p>
        </p:txBody>
      </p:sp>
      <p:sp>
        <p:nvSpPr>
          <p:cNvPr id="15" name="Text 11"/>
          <p:cNvSpPr txBox="1"/>
          <p:nvPr/>
        </p:nvSpPr>
        <p:spPr>
          <a:xfrm>
            <a:off x="658368" y="1581912"/>
            <a:ext cx="228600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APPROACH</a:t>
            </a:r>
            <a:endParaRPr lang="en-US" sz="800" dirty="0"/>
          </a:p>
        </p:txBody>
      </p:sp>
      <p:sp>
        <p:nvSpPr>
          <p:cNvPr id="16" name="Text 12"/>
          <p:cNvSpPr txBox="1"/>
          <p:nvPr/>
        </p:nvSpPr>
        <p:spPr>
          <a:xfrm>
            <a:off x="2670048" y="1581912"/>
            <a:ext cx="402336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WHAT IT CONTRIBUTES</a:t>
            </a:r>
            <a:endParaRPr lang="en-US" sz="800" dirty="0"/>
          </a:p>
        </p:txBody>
      </p:sp>
      <p:sp>
        <p:nvSpPr>
          <p:cNvPr id="17" name="Text 13"/>
          <p:cNvSpPr txBox="1"/>
          <p:nvPr/>
        </p:nvSpPr>
        <p:spPr>
          <a:xfrm>
            <a:off x="6894576" y="1581912"/>
            <a:ext cx="438912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REMAINING BOUNDARY / GAP</a:t>
            </a:r>
            <a:endParaRPr lang="en-US" sz="800" dirty="0"/>
          </a:p>
        </p:txBody>
      </p:sp>
      <p:sp>
        <p:nvSpPr>
          <p:cNvPr id="18" name="Shape 14"/>
          <p:cNvSpPr/>
          <p:nvPr/>
        </p:nvSpPr>
        <p:spPr>
          <a:xfrm>
            <a:off x="621792" y="1874520"/>
            <a:ext cx="11000232" cy="603504"/>
          </a:xfrm>
          <a:prstGeom prst="roundRect">
            <a:avLst>
              <a:gd name="adj" fmla="val 12121"/>
            </a:avLst>
          </a:prstGeom>
          <a:solidFill>
            <a:srgbClr val="F0ECE3"/>
          </a:solidFill>
          <a:ln w="9525">
            <a:solidFill>
              <a:srgbClr val="DCD5C5"/>
            </a:solidFill>
            <a:prstDash val="solid"/>
          </a:ln>
        </p:spPr>
      </p:sp>
      <p:sp>
        <p:nvSpPr>
          <p:cNvPr id="19" name="Text 15"/>
          <p:cNvSpPr txBox="1"/>
          <p:nvPr/>
        </p:nvSpPr>
        <p:spPr>
          <a:xfrm>
            <a:off x="822960" y="1947672"/>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CPCB stations + National AQI</a:t>
            </a:r>
            <a:endParaRPr lang="en-US" sz="1150" dirty="0"/>
          </a:p>
        </p:txBody>
      </p:sp>
      <p:sp>
        <p:nvSpPr>
          <p:cNvPr id="20" name="Text 16"/>
          <p:cNvSpPr txBox="1"/>
          <p:nvPr/>
        </p:nvSpPr>
        <p:spPr>
          <a:xfrm>
            <a:off x="2834640" y="1947672"/>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Regulatory-grade readings and a public AQI scale [2]</a:t>
            </a:r>
            <a:endParaRPr lang="en-US" sz="1000" dirty="0"/>
          </a:p>
        </p:txBody>
      </p:sp>
      <p:sp>
        <p:nvSpPr>
          <p:cNvPr id="21" name="Text 17"/>
          <p:cNvSpPr txBox="1"/>
          <p:nvPr/>
        </p:nvSpPr>
        <p:spPr>
          <a:xfrm>
            <a:off x="7059168" y="1947672"/>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Sparse stations can miss a street-level event [1]</a:t>
            </a:r>
            <a:endParaRPr lang="en-US" sz="1000" dirty="0"/>
          </a:p>
        </p:txBody>
      </p:sp>
      <p:sp>
        <p:nvSpPr>
          <p:cNvPr id="22" name="Shape 18"/>
          <p:cNvSpPr/>
          <p:nvPr/>
        </p:nvSpPr>
        <p:spPr>
          <a:xfrm>
            <a:off x="621792" y="2633472"/>
            <a:ext cx="11000232" cy="603504"/>
          </a:xfrm>
          <a:prstGeom prst="roundRect">
            <a:avLst>
              <a:gd name="adj" fmla="val 12121"/>
            </a:avLst>
          </a:prstGeom>
          <a:solidFill>
            <a:srgbClr val="FFFDF7"/>
          </a:solidFill>
          <a:ln w="9525">
            <a:solidFill>
              <a:srgbClr val="DCD5C5"/>
            </a:solidFill>
            <a:prstDash val="solid"/>
          </a:ln>
        </p:spPr>
      </p:sp>
      <p:sp>
        <p:nvSpPr>
          <p:cNvPr id="23" name="Text 19"/>
          <p:cNvSpPr txBox="1"/>
          <p:nvPr/>
        </p:nvSpPr>
        <p:spPr>
          <a:xfrm>
            <a:off x="822960" y="2706624"/>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SAFAR / IITM forecasts</a:t>
            </a:r>
            <a:endParaRPr lang="en-US" sz="1150" dirty="0"/>
          </a:p>
        </p:txBody>
      </p:sp>
      <p:sp>
        <p:nvSpPr>
          <p:cNvPr id="24" name="Text 20"/>
          <p:cNvSpPr txBox="1"/>
          <p:nvPr/>
        </p:nvSpPr>
        <p:spPr>
          <a:xfrm>
            <a:off x="2834640" y="2706624"/>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City-scale AQI and forecasts for major metros [3]</a:t>
            </a:r>
            <a:endParaRPr lang="en-US" sz="1000" dirty="0"/>
          </a:p>
        </p:txBody>
      </p:sp>
      <p:sp>
        <p:nvSpPr>
          <p:cNvPr id="25" name="Text 21"/>
          <p:cNvSpPr txBox="1"/>
          <p:nvPr/>
        </p:nvSpPr>
        <p:spPr>
          <a:xfrm>
            <a:off x="7059168" y="2706624"/>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Forecasts, not a verified-report-to-inspection workflow</a:t>
            </a:r>
            <a:endParaRPr lang="en-US" sz="1000" dirty="0"/>
          </a:p>
        </p:txBody>
      </p:sp>
      <p:sp>
        <p:nvSpPr>
          <p:cNvPr id="26" name="Shape 22"/>
          <p:cNvSpPr/>
          <p:nvPr/>
        </p:nvSpPr>
        <p:spPr>
          <a:xfrm>
            <a:off x="621792" y="3392424"/>
            <a:ext cx="11000232" cy="603504"/>
          </a:xfrm>
          <a:prstGeom prst="roundRect">
            <a:avLst>
              <a:gd name="adj" fmla="val 12121"/>
            </a:avLst>
          </a:prstGeom>
          <a:solidFill>
            <a:srgbClr val="F0ECE3"/>
          </a:solidFill>
          <a:ln w="9525">
            <a:solidFill>
              <a:srgbClr val="DCD5C5"/>
            </a:solidFill>
            <a:prstDash val="solid"/>
          </a:ln>
        </p:spPr>
      </p:sp>
      <p:sp>
        <p:nvSpPr>
          <p:cNvPr id="27" name="Text 23"/>
          <p:cNvSpPr txBox="1"/>
          <p:nvPr/>
        </p:nvSpPr>
        <p:spPr>
          <a:xfrm>
            <a:off x="822960" y="3465576"/>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GRAP (CAQM)</a:t>
            </a:r>
            <a:endParaRPr lang="en-US" sz="1150" dirty="0"/>
          </a:p>
        </p:txBody>
      </p:sp>
      <p:sp>
        <p:nvSpPr>
          <p:cNvPr id="28" name="Text 24"/>
          <p:cNvSpPr txBox="1"/>
          <p:nvPr/>
        </p:nvSpPr>
        <p:spPr>
          <a:xfrm>
            <a:off x="2834640" y="3465576"/>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Staged, region-wide measures for Delhi NCR [4]</a:t>
            </a:r>
            <a:endParaRPr lang="en-US" sz="1000" dirty="0"/>
          </a:p>
        </p:txBody>
      </p:sp>
      <p:sp>
        <p:nvSpPr>
          <p:cNvPr id="29" name="Text 25"/>
          <p:cNvSpPr txBox="1"/>
          <p:nvPr/>
        </p:nvSpPr>
        <p:spPr>
          <a:xfrm>
            <a:off x="7059168" y="3465576"/>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Region-wide; does not locate a specific source</a:t>
            </a:r>
            <a:endParaRPr lang="en-US" sz="1000" dirty="0"/>
          </a:p>
        </p:txBody>
      </p:sp>
      <p:sp>
        <p:nvSpPr>
          <p:cNvPr id="30" name="Shape 26"/>
          <p:cNvSpPr/>
          <p:nvPr/>
        </p:nvSpPr>
        <p:spPr>
          <a:xfrm>
            <a:off x="621792" y="4151376"/>
            <a:ext cx="11000232" cy="603504"/>
          </a:xfrm>
          <a:prstGeom prst="roundRect">
            <a:avLst>
              <a:gd name="adj" fmla="val 12121"/>
            </a:avLst>
          </a:prstGeom>
          <a:solidFill>
            <a:srgbClr val="FFFDF7"/>
          </a:solidFill>
          <a:ln w="9525">
            <a:solidFill>
              <a:srgbClr val="DCD5C5"/>
            </a:solidFill>
            <a:prstDash val="solid"/>
          </a:ln>
        </p:spPr>
      </p:sp>
      <p:sp>
        <p:nvSpPr>
          <p:cNvPr id="31" name="Text 27"/>
          <p:cNvSpPr txBox="1"/>
          <p:nvPr/>
        </p:nvSpPr>
        <p:spPr>
          <a:xfrm>
            <a:off x="822960" y="4224528"/>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Complaint apps / portals</a:t>
            </a:r>
            <a:endParaRPr lang="en-US" sz="1150" dirty="0"/>
          </a:p>
        </p:txBody>
      </p:sp>
      <p:sp>
        <p:nvSpPr>
          <p:cNvPr id="32" name="Text 28"/>
          <p:cNvSpPr txBox="1"/>
          <p:nvPr/>
        </p:nvSpPr>
        <p:spPr>
          <a:xfrm>
            <a:off x="2834640" y="4224528"/>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Citizens can flag visible pollution</a:t>
            </a:r>
            <a:endParaRPr lang="en-US" sz="1000" dirty="0"/>
          </a:p>
        </p:txBody>
      </p:sp>
      <p:sp>
        <p:nvSpPr>
          <p:cNvPr id="33" name="Text 29"/>
          <p:cNvSpPr txBox="1"/>
          <p:nvPr/>
        </p:nvSpPr>
        <p:spPr>
          <a:xfrm>
            <a:off x="7059168" y="4224528"/>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Reports hard to verify; not fused with sensors or satellite [1]</a:t>
            </a:r>
            <a:endParaRPr lang="en-US" sz="1000" dirty="0"/>
          </a:p>
        </p:txBody>
      </p:sp>
      <p:sp>
        <p:nvSpPr>
          <p:cNvPr id="34" name="Shape 30"/>
          <p:cNvSpPr/>
          <p:nvPr/>
        </p:nvSpPr>
        <p:spPr>
          <a:xfrm>
            <a:off x="621792" y="4910328"/>
            <a:ext cx="11000232" cy="603504"/>
          </a:xfrm>
          <a:prstGeom prst="roundRect">
            <a:avLst>
              <a:gd name="adj" fmla="val 12121"/>
            </a:avLst>
          </a:prstGeom>
          <a:solidFill>
            <a:srgbClr val="DCEEE8"/>
          </a:solidFill>
          <a:ln w="9525">
            <a:solidFill>
              <a:srgbClr val="12796D"/>
            </a:solidFill>
            <a:prstDash val="solid"/>
          </a:ln>
        </p:spPr>
      </p:sp>
      <p:sp>
        <p:nvSpPr>
          <p:cNvPr id="35" name="Text 31"/>
          <p:cNvSpPr txBox="1"/>
          <p:nvPr/>
        </p:nvSpPr>
        <p:spPr>
          <a:xfrm>
            <a:off x="822960" y="4983480"/>
            <a:ext cx="1920240" cy="457200"/>
          </a:xfrm>
          <a:prstGeom prst="rect">
            <a:avLst/>
          </a:prstGeom>
          <a:noFill/>
          <a:ln/>
        </p:spPr>
        <p:txBody>
          <a:bodyPr wrap="square" lIns="0" tIns="0" rIns="0" bIns="0" rtlCol="0" anchor="ctr">
            <a:normAutofit/>
          </a:bodyPr>
          <a:lstStyle/>
          <a:p>
            <a:pPr indent="0" marL="0">
              <a:buNone/>
            </a:pPr>
            <a:r>
              <a:rPr lang="en-US" sz="1150" b="1" dirty="0">
                <a:solidFill>
                  <a:srgbClr val="12796D"/>
                </a:solidFill>
                <a:latin typeface="Arial" pitchFamily="34" charset="0"/>
                <a:ea typeface="Arial" pitchFamily="34" charset="-122"/>
                <a:cs typeface="Arial" pitchFamily="34" charset="-120"/>
              </a:rPr>
              <a:t>VayuDrishti</a:t>
            </a:r>
            <a:endParaRPr lang="en-US" sz="1150" dirty="0"/>
          </a:p>
        </p:txBody>
      </p:sp>
      <p:sp>
        <p:nvSpPr>
          <p:cNvPr id="36" name="Text 32"/>
          <p:cNvSpPr txBox="1"/>
          <p:nvPr/>
        </p:nvSpPr>
        <p:spPr>
          <a:xfrm>
            <a:off x="2834640" y="4983480"/>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Verified photo + sensor + satellite + weather → brief → approval</a:t>
            </a:r>
            <a:endParaRPr lang="en-US" sz="1000" dirty="0"/>
          </a:p>
        </p:txBody>
      </p:sp>
      <p:sp>
        <p:nvSpPr>
          <p:cNvPr id="37" name="Text 33"/>
          <p:cNvSpPr txBox="1"/>
          <p:nvPr/>
        </p:nvSpPr>
        <p:spPr>
          <a:xfrm>
            <a:off x="7059168" y="4983480"/>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Complements the above; accuracy unvalidated beyond sample data</a:t>
            </a:r>
            <a:endParaRPr lang="en-US" sz="1000" dirty="0"/>
          </a:p>
        </p:txBody>
      </p:sp>
      <p:sp>
        <p:nvSpPr>
          <p:cNvPr id="38" name="Shape 34"/>
          <p:cNvSpPr/>
          <p:nvPr/>
        </p:nvSpPr>
        <p:spPr>
          <a:xfrm>
            <a:off x="658368" y="5843016"/>
            <a:ext cx="1719072" cy="310896"/>
          </a:xfrm>
          <a:prstGeom prst="roundRect">
            <a:avLst>
              <a:gd name="adj" fmla="val 23529"/>
            </a:avLst>
          </a:prstGeom>
          <a:solidFill>
            <a:srgbClr val="1B3149"/>
          </a:solidFill>
          <a:ln/>
        </p:spPr>
      </p:sp>
      <p:sp>
        <p:nvSpPr>
          <p:cNvPr id="39" name="Text 35"/>
          <p:cNvSpPr txBox="1"/>
          <p:nvPr/>
        </p:nvSpPr>
        <p:spPr>
          <a:xfrm>
            <a:off x="658368" y="5843016"/>
            <a:ext cx="171907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DISTINCTIVE CAPABILITY</a:t>
            </a:r>
            <a:endParaRPr lang="en-US" sz="700" dirty="0"/>
          </a:p>
        </p:txBody>
      </p:sp>
      <p:sp>
        <p:nvSpPr>
          <p:cNvPr id="40" name="Text 36"/>
          <p:cNvSpPr txBox="1"/>
          <p:nvPr/>
        </p:nvSpPr>
        <p:spPr>
          <a:xfrm>
            <a:off x="2606040" y="5824728"/>
            <a:ext cx="8961120" cy="347472"/>
          </a:xfrm>
          <a:prstGeom prst="rect">
            <a:avLst/>
          </a:prstGeom>
          <a:noFill/>
          <a:ln/>
        </p:spPr>
        <p:txBody>
          <a:bodyPr wrap="square" lIns="0" tIns="0" rIns="0" bIns="0" rtlCol="0" anchor="ctr">
            <a:normAutofit/>
          </a:bodyPr>
          <a:lstStyle/>
          <a:p>
            <a:pPr indent="0" marL="0">
              <a:buNone/>
            </a:pPr>
            <a:r>
              <a:rPr lang="en-US" sz="1400" b="1" dirty="0">
                <a:solidFill>
                  <a:srgbClr val="1B3149"/>
                </a:solidFill>
                <a:latin typeface="Arial" pitchFamily="34" charset="0"/>
                <a:ea typeface="Arial" pitchFamily="34" charset="-122"/>
                <a:cs typeface="Arial" pitchFamily="34" charset="-120"/>
              </a:rPr>
              <a:t>A verified citizen photo becomes an officer-approved, cross-state-aware inspection.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07 — TECHNOLOGY &amp; GOOGLE AI</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Bounded AI on a federated evidence grid.</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Gemini interprets structured evidence; it never invents measurements.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[5] Earth Engine catalogue (Sentinel-5P NO2, FIRMS).  [6] Crilley et al. (2018), AMT.  [7] Gemini 2.5 Flash on Vertex AI.</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8</a:t>
            </a:r>
            <a:endParaRPr lang="en-US" sz="650" dirty="0"/>
          </a:p>
        </p:txBody>
      </p:sp>
      <p:sp>
        <p:nvSpPr>
          <p:cNvPr id="15" name="Shape 11"/>
          <p:cNvSpPr/>
          <p:nvPr/>
        </p:nvSpPr>
        <p:spPr>
          <a:xfrm>
            <a:off x="621792" y="1709928"/>
            <a:ext cx="6702552" cy="612648"/>
          </a:xfrm>
          <a:prstGeom prst="roundRect">
            <a:avLst>
              <a:gd name="adj" fmla="val 11940"/>
            </a:avLst>
          </a:prstGeom>
          <a:solidFill>
            <a:srgbClr val="FFFDF7"/>
          </a:solidFill>
          <a:ln w="9525">
            <a:solidFill>
              <a:srgbClr val="DCD5C5"/>
            </a:solidFill>
            <a:prstDash val="solid"/>
          </a:ln>
        </p:spPr>
      </p:sp>
      <p:sp>
        <p:nvSpPr>
          <p:cNvPr id="16" name="Text 12"/>
          <p:cNvSpPr txBox="1"/>
          <p:nvPr/>
        </p:nvSpPr>
        <p:spPr>
          <a:xfrm>
            <a:off x="822960" y="1911096"/>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1234440" y="1874520"/>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CITIZEN CHANNEL</a:t>
            </a:r>
            <a:endParaRPr lang="en-US" sz="1100" dirty="0"/>
          </a:p>
        </p:txBody>
      </p:sp>
      <p:sp>
        <p:nvSpPr>
          <p:cNvPr id="18" name="Text 14"/>
          <p:cNvSpPr txBox="1"/>
          <p:nvPr/>
        </p:nvSpPr>
        <p:spPr>
          <a:xfrm>
            <a:off x="3246120" y="1819656"/>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Next.js app • photo + voice (Speech-to-Text) • hi/pa/en • Maps geocoding</a:t>
            </a:r>
            <a:endParaRPr lang="en-US" sz="950" dirty="0"/>
          </a:p>
        </p:txBody>
      </p:sp>
      <p:sp>
        <p:nvSpPr>
          <p:cNvPr id="19" name="Shape 15"/>
          <p:cNvSpPr/>
          <p:nvPr/>
        </p:nvSpPr>
        <p:spPr>
          <a:xfrm>
            <a:off x="621792" y="2514600"/>
            <a:ext cx="6702552" cy="612648"/>
          </a:xfrm>
          <a:prstGeom prst="roundRect">
            <a:avLst>
              <a:gd name="adj" fmla="val 11940"/>
            </a:avLst>
          </a:prstGeom>
          <a:solidFill>
            <a:srgbClr val="FFFDF7"/>
          </a:solidFill>
          <a:ln w="9525">
            <a:solidFill>
              <a:srgbClr val="DCD5C5"/>
            </a:solidFill>
            <a:prstDash val="solid"/>
          </a:ln>
        </p:spPr>
      </p:sp>
      <p:sp>
        <p:nvSpPr>
          <p:cNvPr id="20" name="Text 16"/>
          <p:cNvSpPr txBox="1"/>
          <p:nvPr/>
        </p:nvSpPr>
        <p:spPr>
          <a:xfrm>
            <a:off x="822960" y="2715768"/>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1" name="Text 17"/>
          <p:cNvSpPr txBox="1"/>
          <p:nvPr/>
        </p:nvSpPr>
        <p:spPr>
          <a:xfrm>
            <a:off x="1234440" y="2679192"/>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STATE ADAPTERS</a:t>
            </a:r>
            <a:endParaRPr lang="en-US" sz="1100" dirty="0"/>
          </a:p>
        </p:txBody>
      </p:sp>
      <p:sp>
        <p:nvSpPr>
          <p:cNvPr id="22" name="Text 18"/>
          <p:cNvSpPr txBox="1"/>
          <p:nvPr/>
        </p:nvSpPr>
        <p:spPr>
          <a:xfrm>
            <a:off x="3246120" y="2624328"/>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3 vendor feeds → canonical schema • κ-Köhler humidity calibration [6]</a:t>
            </a:r>
            <a:endParaRPr lang="en-US" sz="950" dirty="0"/>
          </a:p>
        </p:txBody>
      </p:sp>
      <p:sp>
        <p:nvSpPr>
          <p:cNvPr id="23" name="Shape 19"/>
          <p:cNvSpPr/>
          <p:nvPr/>
        </p:nvSpPr>
        <p:spPr>
          <a:xfrm>
            <a:off x="621792" y="3319272"/>
            <a:ext cx="6702552" cy="612648"/>
          </a:xfrm>
          <a:prstGeom prst="roundRect">
            <a:avLst>
              <a:gd name="adj" fmla="val 11940"/>
            </a:avLst>
          </a:prstGeom>
          <a:solidFill>
            <a:srgbClr val="FFFDF7"/>
          </a:solidFill>
          <a:ln w="9525">
            <a:solidFill>
              <a:srgbClr val="DCD5C5"/>
            </a:solidFill>
            <a:prstDash val="solid"/>
          </a:ln>
        </p:spPr>
      </p:sp>
      <p:sp>
        <p:nvSpPr>
          <p:cNvPr id="24" name="Text 20"/>
          <p:cNvSpPr txBox="1"/>
          <p:nvPr/>
        </p:nvSpPr>
        <p:spPr>
          <a:xfrm>
            <a:off x="822960" y="3520440"/>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5" name="Text 21"/>
          <p:cNvSpPr txBox="1"/>
          <p:nvPr/>
        </p:nvSpPr>
        <p:spPr>
          <a:xfrm>
            <a:off x="1234440" y="3483864"/>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FUSION GRID</a:t>
            </a:r>
            <a:endParaRPr lang="en-US" sz="1100" dirty="0"/>
          </a:p>
        </p:txBody>
      </p:sp>
      <p:sp>
        <p:nvSpPr>
          <p:cNvPr id="26" name="Text 22"/>
          <p:cNvSpPr txBox="1"/>
          <p:nvPr/>
        </p:nvSpPr>
        <p:spPr>
          <a:xfrm>
            <a:off x="3246120" y="3429000"/>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H3 res 8 (~1 km) • Earth Engine layers [5] • 24–72 h shared forecast model</a:t>
            </a:r>
            <a:endParaRPr lang="en-US" sz="950" dirty="0"/>
          </a:p>
        </p:txBody>
      </p:sp>
      <p:sp>
        <p:nvSpPr>
          <p:cNvPr id="27" name="Shape 23"/>
          <p:cNvSpPr/>
          <p:nvPr/>
        </p:nvSpPr>
        <p:spPr>
          <a:xfrm>
            <a:off x="621792" y="4123944"/>
            <a:ext cx="6702552" cy="612648"/>
          </a:xfrm>
          <a:prstGeom prst="roundRect">
            <a:avLst>
              <a:gd name="adj" fmla="val 11940"/>
            </a:avLst>
          </a:prstGeom>
          <a:solidFill>
            <a:srgbClr val="DCEEE8"/>
          </a:solidFill>
          <a:ln w="9525">
            <a:solidFill>
              <a:srgbClr val="12796D"/>
            </a:solidFill>
            <a:prstDash val="solid"/>
          </a:ln>
        </p:spPr>
      </p:sp>
      <p:sp>
        <p:nvSpPr>
          <p:cNvPr id="28" name="Text 24"/>
          <p:cNvSpPr txBox="1"/>
          <p:nvPr/>
        </p:nvSpPr>
        <p:spPr>
          <a:xfrm>
            <a:off x="822960" y="4325112"/>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29" name="Text 25"/>
          <p:cNvSpPr txBox="1"/>
          <p:nvPr/>
        </p:nvSpPr>
        <p:spPr>
          <a:xfrm>
            <a:off x="1234440" y="4288536"/>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DECISION LAYER</a:t>
            </a:r>
            <a:endParaRPr lang="en-US" sz="1100" dirty="0"/>
          </a:p>
        </p:txBody>
      </p:sp>
      <p:sp>
        <p:nvSpPr>
          <p:cNvPr id="30" name="Text 26"/>
          <p:cNvSpPr txBox="1"/>
          <p:nvPr/>
        </p:nvSpPr>
        <p:spPr>
          <a:xfrm>
            <a:off x="3246120" y="4233672"/>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on the evidence bundle • action rules only • numeric grounding check</a:t>
            </a:r>
            <a:endParaRPr lang="en-US" sz="950" dirty="0"/>
          </a:p>
        </p:txBody>
      </p:sp>
      <p:sp>
        <p:nvSpPr>
          <p:cNvPr id="31" name="Shape 27"/>
          <p:cNvSpPr/>
          <p:nvPr/>
        </p:nvSpPr>
        <p:spPr>
          <a:xfrm>
            <a:off x="621792" y="4928616"/>
            <a:ext cx="6702552" cy="612648"/>
          </a:xfrm>
          <a:prstGeom prst="roundRect">
            <a:avLst>
              <a:gd name="adj" fmla="val 11940"/>
            </a:avLst>
          </a:prstGeom>
          <a:solidFill>
            <a:srgbClr val="FFFDF7"/>
          </a:solidFill>
          <a:ln w="9525">
            <a:solidFill>
              <a:srgbClr val="DCD5C5"/>
            </a:solidFill>
            <a:prstDash val="solid"/>
          </a:ln>
        </p:spPr>
      </p:sp>
      <p:sp>
        <p:nvSpPr>
          <p:cNvPr id="32" name="Text 28"/>
          <p:cNvSpPr txBox="1"/>
          <p:nvPr/>
        </p:nvSpPr>
        <p:spPr>
          <a:xfrm>
            <a:off x="822960" y="5129784"/>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05</a:t>
            </a:r>
            <a:endParaRPr lang="en-US" sz="750" dirty="0"/>
          </a:p>
        </p:txBody>
      </p:sp>
      <p:sp>
        <p:nvSpPr>
          <p:cNvPr id="33" name="Text 29"/>
          <p:cNvSpPr txBox="1"/>
          <p:nvPr/>
        </p:nvSpPr>
        <p:spPr>
          <a:xfrm>
            <a:off x="1234440" y="5093208"/>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OFFICER + DELIVERY</a:t>
            </a:r>
            <a:endParaRPr lang="en-US" sz="1100" dirty="0"/>
          </a:p>
        </p:txBody>
      </p:sp>
      <p:sp>
        <p:nvSpPr>
          <p:cNvPr id="34" name="Text 30"/>
          <p:cNvSpPr txBox="1"/>
          <p:nvPr/>
        </p:nvSpPr>
        <p:spPr>
          <a:xfrm>
            <a:off x="3246120" y="5038344"/>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Inbox • approve / record / close • Translation + TTS • BigQuery audit</a:t>
            </a:r>
            <a:endParaRPr lang="en-US" sz="950" dirty="0"/>
          </a:p>
        </p:txBody>
      </p:sp>
      <p:sp>
        <p:nvSpPr>
          <p:cNvPr id="35" name="Shape 31"/>
          <p:cNvSpPr/>
          <p:nvPr/>
        </p:nvSpPr>
        <p:spPr>
          <a:xfrm>
            <a:off x="7662672" y="1700784"/>
            <a:ext cx="3931920" cy="2011680"/>
          </a:xfrm>
          <a:prstGeom prst="roundRect">
            <a:avLst>
              <a:gd name="adj" fmla="val 3636"/>
            </a:avLst>
          </a:prstGeom>
          <a:solidFill>
            <a:srgbClr val="1B3149"/>
          </a:solidFill>
          <a:ln/>
        </p:spPr>
      </p:sp>
      <p:sp>
        <p:nvSpPr>
          <p:cNvPr id="36" name="Text 32"/>
          <p:cNvSpPr txBox="1"/>
          <p:nvPr/>
        </p:nvSpPr>
        <p:spPr>
          <a:xfrm>
            <a:off x="7955280" y="1920240"/>
            <a:ext cx="3474720" cy="22860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GOOGLE AI INTEGRATION MAP</a:t>
            </a:r>
            <a:endParaRPr lang="en-US" sz="1200" dirty="0"/>
          </a:p>
        </p:txBody>
      </p:sp>
      <p:sp>
        <p:nvSpPr>
          <p:cNvPr id="37" name="Shape 33"/>
          <p:cNvSpPr/>
          <p:nvPr/>
        </p:nvSpPr>
        <p:spPr>
          <a:xfrm>
            <a:off x="7982712" y="2340864"/>
            <a:ext cx="109728" cy="109728"/>
          </a:xfrm>
          <a:prstGeom prst="ellipse">
            <a:avLst/>
          </a:prstGeom>
          <a:solidFill>
            <a:srgbClr val="9ED8CC"/>
          </a:solidFill>
          <a:ln/>
        </p:spPr>
      </p:sp>
      <p:sp>
        <p:nvSpPr>
          <p:cNvPr id="38" name="Text 34"/>
          <p:cNvSpPr txBox="1"/>
          <p:nvPr/>
        </p:nvSpPr>
        <p:spPr>
          <a:xfrm>
            <a:off x="8211312" y="2286000"/>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Gemini 2.5 Flash (Vertex AI): photo, brief, advisory [7]</a:t>
            </a:r>
            <a:endParaRPr lang="en-US" sz="950" dirty="0"/>
          </a:p>
        </p:txBody>
      </p:sp>
      <p:sp>
        <p:nvSpPr>
          <p:cNvPr id="39" name="Shape 35"/>
          <p:cNvSpPr/>
          <p:nvPr/>
        </p:nvSpPr>
        <p:spPr>
          <a:xfrm>
            <a:off x="7982712" y="2642616"/>
            <a:ext cx="109728" cy="109728"/>
          </a:xfrm>
          <a:prstGeom prst="ellipse">
            <a:avLst/>
          </a:prstGeom>
          <a:solidFill>
            <a:srgbClr val="9ED8CC"/>
          </a:solidFill>
          <a:ln/>
        </p:spPr>
      </p:sp>
      <p:sp>
        <p:nvSpPr>
          <p:cNvPr id="40" name="Text 36"/>
          <p:cNvSpPr txBox="1"/>
          <p:nvPr/>
        </p:nvSpPr>
        <p:spPr>
          <a:xfrm>
            <a:off x="8211312" y="2587752"/>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Translation • Text-to-Speech • Speech-to-Text</a:t>
            </a:r>
            <a:endParaRPr lang="en-US" sz="950" dirty="0"/>
          </a:p>
        </p:txBody>
      </p:sp>
      <p:sp>
        <p:nvSpPr>
          <p:cNvPr id="41" name="Shape 37"/>
          <p:cNvSpPr/>
          <p:nvPr/>
        </p:nvSpPr>
        <p:spPr>
          <a:xfrm>
            <a:off x="7982712" y="2944368"/>
            <a:ext cx="109728" cy="109728"/>
          </a:xfrm>
          <a:prstGeom prst="ellipse">
            <a:avLst/>
          </a:prstGeom>
          <a:solidFill>
            <a:srgbClr val="9ED8CC"/>
          </a:solidFill>
          <a:ln/>
        </p:spPr>
      </p:sp>
      <p:sp>
        <p:nvSpPr>
          <p:cNvPr id="42" name="Text 38"/>
          <p:cNvSpPr txBox="1"/>
          <p:nvPr/>
        </p:nvSpPr>
        <p:spPr>
          <a:xfrm>
            <a:off x="8211312" y="2889504"/>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Maps • BigQuery • Cloud Storage • Cloud Run</a:t>
            </a:r>
            <a:endParaRPr lang="en-US" sz="950" dirty="0"/>
          </a:p>
        </p:txBody>
      </p:sp>
      <p:sp>
        <p:nvSpPr>
          <p:cNvPr id="43" name="Shape 39"/>
          <p:cNvSpPr/>
          <p:nvPr/>
        </p:nvSpPr>
        <p:spPr>
          <a:xfrm>
            <a:off x="7964424" y="3364992"/>
            <a:ext cx="822960" cy="274320"/>
          </a:xfrm>
          <a:prstGeom prst="roundRect">
            <a:avLst>
              <a:gd name="adj" fmla="val 26667"/>
            </a:avLst>
          </a:prstGeom>
          <a:solidFill>
            <a:srgbClr val="E8694A"/>
          </a:solidFill>
          <a:ln/>
        </p:spPr>
      </p:sp>
      <p:sp>
        <p:nvSpPr>
          <p:cNvPr id="44" name="Text 40"/>
          <p:cNvSpPr txBox="1"/>
          <p:nvPr/>
        </p:nvSpPr>
        <p:spPr>
          <a:xfrm>
            <a:off x="7964424" y="3364992"/>
            <a:ext cx="822960" cy="274320"/>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Arial" pitchFamily="34" charset="0"/>
                <a:ea typeface="Arial" pitchFamily="34" charset="-122"/>
                <a:cs typeface="Arial" pitchFamily="34" charset="-120"/>
              </a:rPr>
              <a:t>WIRED</a:t>
            </a:r>
            <a:endParaRPr lang="en-US" sz="650" dirty="0"/>
          </a:p>
        </p:txBody>
      </p:sp>
      <p:sp>
        <p:nvSpPr>
          <p:cNvPr id="45" name="Text 41"/>
          <p:cNvSpPr txBox="1"/>
          <p:nvPr/>
        </p:nvSpPr>
        <p:spPr>
          <a:xfrm>
            <a:off x="8869680" y="3346704"/>
            <a:ext cx="2606040" cy="310896"/>
          </a:xfrm>
          <a:prstGeom prst="rect">
            <a:avLst/>
          </a:prstGeom>
          <a:noFill/>
          <a:ln/>
        </p:spPr>
        <p:txBody>
          <a:bodyPr wrap="square" lIns="0" tIns="0" rIns="0" bIns="0" rtlCol="0" anchor="ctr">
            <a:normAutofit/>
          </a:bodyPr>
          <a:lstStyle/>
          <a:p>
            <a:pPr indent="0" marL="0">
              <a:buNone/>
            </a:pPr>
            <a:r>
              <a:rPr lang="en-US" sz="850" b="1" dirty="0">
                <a:solidFill>
                  <a:srgbClr val="F3CB7A"/>
                </a:solidFill>
                <a:latin typeface="Arial" pitchFamily="34" charset="0"/>
                <a:ea typeface="Arial" pitchFamily="34" charset="-122"/>
                <a:cs typeface="Arial" pitchFamily="34" charset="-120"/>
              </a:rPr>
              <a:t>Earth Engine + Vertex Model Registry: on sample until access</a:t>
            </a:r>
            <a:endParaRPr lang="en-US" sz="850" dirty="0"/>
          </a:p>
        </p:txBody>
      </p:sp>
      <p:sp>
        <p:nvSpPr>
          <p:cNvPr id="46" name="Shape 42"/>
          <p:cNvSpPr/>
          <p:nvPr/>
        </p:nvSpPr>
        <p:spPr>
          <a:xfrm>
            <a:off x="7662672" y="3995928"/>
            <a:ext cx="3931920" cy="1737360"/>
          </a:xfrm>
          <a:prstGeom prst="roundRect">
            <a:avLst>
              <a:gd name="adj" fmla="val 4211"/>
            </a:avLst>
          </a:prstGeom>
          <a:solidFill>
            <a:srgbClr val="FFFDF7"/>
          </a:solidFill>
          <a:ln w="9525">
            <a:solidFill>
              <a:srgbClr val="12796D"/>
            </a:solidFill>
            <a:prstDash val="solid"/>
          </a:ln>
        </p:spPr>
      </p:sp>
      <p:sp>
        <p:nvSpPr>
          <p:cNvPr id="47" name="Text 43"/>
          <p:cNvSpPr txBox="1"/>
          <p:nvPr/>
        </p:nvSpPr>
        <p:spPr>
          <a:xfrm>
            <a:off x="7955280" y="4224528"/>
            <a:ext cx="347472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REAL-VS-SAMPLE RULE</a:t>
            </a:r>
            <a:endParaRPr lang="en-US" sz="1200" dirty="0"/>
          </a:p>
        </p:txBody>
      </p:sp>
      <p:sp>
        <p:nvSpPr>
          <p:cNvPr id="48" name="Text 44"/>
          <p:cNvSpPr txBox="1"/>
          <p:nvPr/>
        </p:nvSpPr>
        <p:spPr>
          <a:xfrm>
            <a:off x="7955280" y="464515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Live</a:t>
            </a:r>
            <a:endParaRPr lang="en-US" sz="850" dirty="0"/>
          </a:p>
        </p:txBody>
      </p:sp>
      <p:sp>
        <p:nvSpPr>
          <p:cNvPr id="49" name="Text 45"/>
          <p:cNvSpPr txBox="1"/>
          <p:nvPr/>
        </p:nvSpPr>
        <p:spPr>
          <a:xfrm>
            <a:off x="9052560" y="464515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Gemini, Translation, TTS/STT, Maps, BigQuery, GCS</a:t>
            </a:r>
            <a:endParaRPr lang="en-US" sz="850" dirty="0"/>
          </a:p>
        </p:txBody>
      </p:sp>
      <p:sp>
        <p:nvSpPr>
          <p:cNvPr id="50" name="Text 46"/>
          <p:cNvSpPr txBox="1"/>
          <p:nvPr/>
        </p:nvSpPr>
        <p:spPr>
          <a:xfrm>
            <a:off x="7955280" y="5010912"/>
            <a:ext cx="1005840" cy="310896"/>
          </a:xfrm>
          <a:prstGeom prst="rect">
            <a:avLst/>
          </a:prstGeom>
          <a:noFill/>
          <a:ln/>
        </p:spPr>
        <p:txBody>
          <a:bodyPr wrap="square" lIns="0" tIns="0" rIns="0" bIns="0" rtlCol="0" anchor="t">
            <a:normAutofit/>
          </a:bodyPr>
          <a:lstStyle/>
          <a:p>
            <a:pPr indent="0" marL="0">
              <a:buNone/>
            </a:pPr>
            <a:r>
              <a:rPr lang="en-US" sz="850" b="1" dirty="0">
                <a:solidFill>
                  <a:srgbClr val="E8694A"/>
                </a:solidFill>
                <a:latin typeface="Arial" pitchFamily="34" charset="0"/>
                <a:ea typeface="Arial" pitchFamily="34" charset="-122"/>
                <a:cs typeface="Arial" pitchFamily="34" charset="-120"/>
              </a:rPr>
              <a:t>Sample</a:t>
            </a:r>
            <a:endParaRPr lang="en-US" sz="850" dirty="0"/>
          </a:p>
        </p:txBody>
      </p:sp>
      <p:sp>
        <p:nvSpPr>
          <p:cNvPr id="51" name="Text 47"/>
          <p:cNvSpPr txBox="1"/>
          <p:nvPr/>
        </p:nvSpPr>
        <p:spPr>
          <a:xfrm>
            <a:off x="9052560" y="501091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EE layers, CPCB station, low-cost sensors: labelled</a:t>
            </a:r>
            <a:endParaRPr lang="en-US" sz="850" dirty="0"/>
          </a:p>
        </p:txBody>
      </p:sp>
      <p:sp>
        <p:nvSpPr>
          <p:cNvPr id="52" name="Text 48"/>
          <p:cNvSpPr txBox="1"/>
          <p:nvPr/>
        </p:nvSpPr>
        <p:spPr>
          <a:xfrm>
            <a:off x="7955280" y="537667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Freshness</a:t>
            </a:r>
            <a:endParaRPr lang="en-US" sz="850" dirty="0"/>
          </a:p>
        </p:txBody>
      </p:sp>
      <p:sp>
        <p:nvSpPr>
          <p:cNvPr id="53" name="Text 49"/>
          <p:cNvSpPr txBox="1"/>
          <p:nvPr/>
        </p:nvSpPr>
        <p:spPr>
          <a:xfrm>
            <a:off x="9052560" y="537667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Each signal shows source + age; header badge: live vs sample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08 — RESPONSIBLE AI &amp; DATA</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Likely source, not a verdict. Humans decide.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platform guides inspections; it does not enforce, penalise or broadcast on its own (PRD §6).</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PRD §6, §35, §52. Roadmap: face and number-plate blurring before any public display; role enforcement and login.</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9</a:t>
            </a:r>
            <a:endParaRPr lang="en-US" sz="650" dirty="0"/>
          </a:p>
        </p:txBody>
      </p:sp>
      <p:sp>
        <p:nvSpPr>
          <p:cNvPr id="15" name="Shape 11"/>
          <p:cNvSpPr/>
          <p:nvPr/>
        </p:nvSpPr>
        <p:spPr>
          <a:xfrm>
            <a:off x="621792" y="1700784"/>
            <a:ext cx="5230368" cy="1856232"/>
          </a:xfrm>
          <a:prstGeom prst="roundRect">
            <a:avLst>
              <a:gd name="adj" fmla="val 3941"/>
            </a:avLst>
          </a:prstGeom>
          <a:solidFill>
            <a:srgbClr val="DCEEE8"/>
          </a:solidFill>
          <a:ln w="9525">
            <a:solidFill>
              <a:srgbClr val="12796D"/>
            </a:solidFill>
            <a:prstDash val="solid"/>
          </a:ln>
        </p:spPr>
      </p:sp>
      <p:sp>
        <p:nvSpPr>
          <p:cNvPr id="16" name="Shape 12"/>
          <p:cNvSpPr/>
          <p:nvPr/>
        </p:nvSpPr>
        <p:spPr>
          <a:xfrm>
            <a:off x="868680" y="1920240"/>
            <a:ext cx="1463040" cy="310896"/>
          </a:xfrm>
          <a:prstGeom prst="roundRect">
            <a:avLst>
              <a:gd name="adj" fmla="val 23529"/>
            </a:avLst>
          </a:prstGeom>
          <a:solidFill>
            <a:srgbClr val="12796D"/>
          </a:solidFill>
          <a:ln/>
        </p:spPr>
      </p:sp>
      <p:sp>
        <p:nvSpPr>
          <p:cNvPr id="17" name="Text 13"/>
          <p:cNvSpPr txBox="1"/>
          <p:nvPr/>
        </p:nvSpPr>
        <p:spPr>
          <a:xfrm>
            <a:off x="868680" y="1920240"/>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HUMAN APPROVAL</a:t>
            </a:r>
            <a:endParaRPr lang="en-US" sz="700" dirty="0"/>
          </a:p>
        </p:txBody>
      </p:sp>
      <p:sp>
        <p:nvSpPr>
          <p:cNvPr id="18" name="Shape 14"/>
          <p:cNvSpPr/>
          <p:nvPr/>
        </p:nvSpPr>
        <p:spPr>
          <a:xfrm>
            <a:off x="2468880" y="1920240"/>
            <a:ext cx="2651760" cy="310896"/>
          </a:xfrm>
          <a:prstGeom prst="roundRect">
            <a:avLst>
              <a:gd name="adj" fmla="val 23529"/>
            </a:avLst>
          </a:prstGeom>
          <a:solidFill>
            <a:srgbClr val="1B3149"/>
          </a:solidFill>
          <a:ln/>
        </p:spPr>
      </p:sp>
      <p:sp>
        <p:nvSpPr>
          <p:cNvPr id="19" name="Text 15"/>
          <p:cNvSpPr txBox="1"/>
          <p:nvPr/>
        </p:nvSpPr>
        <p:spPr>
          <a:xfrm>
            <a:off x="2468880" y="1920240"/>
            <a:ext cx="2651760" cy="310896"/>
          </a:xfrm>
          <a:prstGeom prst="rect">
            <a:avLst/>
          </a:prstGeom>
          <a:noFill/>
          <a:ln/>
        </p:spPr>
        <p:txBody>
          <a:bodyPr wrap="square" lIns="0" tIns="0" rIns="0" bIns="0" rtlCol="0" anchor="ctr"/>
          <a:lstStyle/>
          <a:p>
            <a:pPr algn="ctr" indent="0" marL="0">
              <a:buNone/>
            </a:pPr>
            <a:r>
              <a:rPr lang="en-US" sz="700" b="1" spc="50" kern="0" dirty="0">
                <a:solidFill>
                  <a:srgbClr val="DDE6EC"/>
                </a:solidFill>
                <a:latin typeface="Arial" pitchFamily="34" charset="0"/>
                <a:ea typeface="Arial" pitchFamily="34" charset="-122"/>
                <a:cs typeface="Arial" pitchFamily="34" charset="-120"/>
              </a:rPr>
              <a:t>NO AUTO-BROADCAST • NO ENFORCEMENT</a:t>
            </a:r>
            <a:endParaRPr lang="en-US" sz="700" dirty="0"/>
          </a:p>
        </p:txBody>
      </p:sp>
      <p:sp>
        <p:nvSpPr>
          <p:cNvPr id="20" name="Text 16"/>
          <p:cNvSpPr txBox="1"/>
          <p:nvPr/>
        </p:nvSpPr>
        <p:spPr>
          <a:xfrm>
            <a:off x="868680" y="251460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Alerts</a:t>
            </a:r>
            <a:endParaRPr lang="en-US" sz="1050" dirty="0"/>
          </a:p>
        </p:txBody>
      </p:sp>
      <p:sp>
        <p:nvSpPr>
          <p:cNvPr id="21" name="Text 17"/>
          <p:cNvSpPr txBox="1"/>
          <p:nvPr/>
        </p:nvSpPr>
        <p:spPr>
          <a:xfrm>
            <a:off x="2057400" y="246888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Start as pending review; the officer approves, records the action and closes.</a:t>
            </a:r>
            <a:endParaRPr lang="en-US" sz="1100" dirty="0"/>
          </a:p>
        </p:txBody>
      </p:sp>
      <p:sp>
        <p:nvSpPr>
          <p:cNvPr id="22" name="Text 18"/>
          <p:cNvSpPr txBox="1"/>
          <p:nvPr/>
        </p:nvSpPr>
        <p:spPr>
          <a:xfrm>
            <a:off x="868680" y="301752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Transfers</a:t>
            </a:r>
            <a:endParaRPr lang="en-US" sz="1050" dirty="0"/>
          </a:p>
        </p:txBody>
      </p:sp>
      <p:sp>
        <p:nvSpPr>
          <p:cNvPr id="23" name="Text 19"/>
          <p:cNvSpPr txBox="1"/>
          <p:nvPr/>
        </p:nvSpPr>
        <p:spPr>
          <a:xfrm>
            <a:off x="2057400" y="297180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Cross-boundary alerts and public advisories each need explicit approval.</a:t>
            </a:r>
            <a:endParaRPr lang="en-US" sz="1100" dirty="0"/>
          </a:p>
        </p:txBody>
      </p:sp>
      <p:sp>
        <p:nvSpPr>
          <p:cNvPr id="24" name="Shape 20"/>
          <p:cNvSpPr/>
          <p:nvPr/>
        </p:nvSpPr>
        <p:spPr>
          <a:xfrm>
            <a:off x="621792" y="3840480"/>
            <a:ext cx="5230368" cy="1709928"/>
          </a:xfrm>
          <a:prstGeom prst="roundRect">
            <a:avLst>
              <a:gd name="adj" fmla="val 4278"/>
            </a:avLst>
          </a:prstGeom>
          <a:solidFill>
            <a:srgbClr val="FBE6DE"/>
          </a:solidFill>
          <a:ln w="9525">
            <a:solidFill>
              <a:srgbClr val="E8694A"/>
            </a:solidFill>
            <a:prstDash val="solid"/>
          </a:ln>
        </p:spPr>
      </p:sp>
      <p:sp>
        <p:nvSpPr>
          <p:cNvPr id="25" name="Shape 21"/>
          <p:cNvSpPr/>
          <p:nvPr/>
        </p:nvSpPr>
        <p:spPr>
          <a:xfrm>
            <a:off x="868680" y="4087368"/>
            <a:ext cx="1463040" cy="310896"/>
          </a:xfrm>
          <a:prstGeom prst="roundRect">
            <a:avLst>
              <a:gd name="adj" fmla="val 23529"/>
            </a:avLst>
          </a:prstGeom>
          <a:solidFill>
            <a:srgbClr val="E8694A"/>
          </a:solidFill>
          <a:ln/>
        </p:spPr>
      </p:sp>
      <p:sp>
        <p:nvSpPr>
          <p:cNvPr id="26" name="Text 22"/>
          <p:cNvSpPr txBox="1"/>
          <p:nvPr/>
        </p:nvSpPr>
        <p:spPr>
          <a:xfrm>
            <a:off x="868680" y="4087368"/>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DO NOT COLLECT / CLAIM</a:t>
            </a:r>
            <a:endParaRPr lang="en-US" sz="700" dirty="0"/>
          </a:p>
        </p:txBody>
      </p:sp>
      <p:sp>
        <p:nvSpPr>
          <p:cNvPr id="27" name="Shape 23"/>
          <p:cNvSpPr/>
          <p:nvPr/>
        </p:nvSpPr>
        <p:spPr>
          <a:xfrm>
            <a:off x="914400" y="4617720"/>
            <a:ext cx="118872" cy="118872"/>
          </a:xfrm>
          <a:prstGeom prst="ellipse">
            <a:avLst/>
          </a:prstGeom>
          <a:solidFill>
            <a:srgbClr val="E8694A"/>
          </a:solidFill>
          <a:ln/>
        </p:spPr>
      </p:sp>
      <p:sp>
        <p:nvSpPr>
          <p:cNvPr id="28" name="Text 24"/>
          <p:cNvSpPr txBox="1"/>
          <p:nvPr/>
        </p:nvSpPr>
        <p:spPr>
          <a:xfrm>
            <a:off x="1170432" y="4572000"/>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Reporter identity beyond a pseudonym</a:t>
            </a:r>
            <a:endParaRPr lang="en-US" sz="1050" dirty="0"/>
          </a:p>
        </p:txBody>
      </p:sp>
      <p:sp>
        <p:nvSpPr>
          <p:cNvPr id="29" name="Shape 25"/>
          <p:cNvSpPr/>
          <p:nvPr/>
        </p:nvSpPr>
        <p:spPr>
          <a:xfrm>
            <a:off x="914400" y="4919472"/>
            <a:ext cx="118872" cy="118872"/>
          </a:xfrm>
          <a:prstGeom prst="ellipse">
            <a:avLst/>
          </a:prstGeom>
          <a:solidFill>
            <a:srgbClr val="E8694A"/>
          </a:solidFill>
          <a:ln/>
        </p:spPr>
      </p:sp>
      <p:sp>
        <p:nvSpPr>
          <p:cNvPr id="30" name="Text 26"/>
          <p:cNvSpPr txBox="1"/>
          <p:nvPr/>
        </p:nvSpPr>
        <p:spPr>
          <a:xfrm>
            <a:off x="1170432" y="4873752"/>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Precise reporter locations in public views</a:t>
            </a:r>
            <a:endParaRPr lang="en-US" sz="1050" dirty="0"/>
          </a:p>
        </p:txBody>
      </p:sp>
      <p:sp>
        <p:nvSpPr>
          <p:cNvPr id="31" name="Shape 27"/>
          <p:cNvSpPr/>
          <p:nvPr/>
        </p:nvSpPr>
        <p:spPr>
          <a:xfrm>
            <a:off x="914400" y="5221224"/>
            <a:ext cx="118872" cy="118872"/>
          </a:xfrm>
          <a:prstGeom prst="ellipse">
            <a:avLst/>
          </a:prstGeom>
          <a:solidFill>
            <a:srgbClr val="E8694A"/>
          </a:solidFill>
          <a:ln/>
        </p:spPr>
      </p:sp>
      <p:sp>
        <p:nvSpPr>
          <p:cNvPr id="32" name="Text 28"/>
          <p:cNvSpPr txBox="1"/>
          <p:nvPr/>
        </p:nvSpPr>
        <p:spPr>
          <a:xfrm>
            <a:off x="1170432" y="5175504"/>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“Polluter” labels: only a likely source</a:t>
            </a:r>
            <a:endParaRPr lang="en-US" sz="1050" dirty="0"/>
          </a:p>
        </p:txBody>
      </p:sp>
      <p:sp>
        <p:nvSpPr>
          <p:cNvPr id="33" name="Shape 29"/>
          <p:cNvSpPr/>
          <p:nvPr/>
        </p:nvSpPr>
        <p:spPr>
          <a:xfrm>
            <a:off x="6153912" y="1700784"/>
            <a:ext cx="5422392" cy="3849624"/>
          </a:xfrm>
          <a:prstGeom prst="roundRect">
            <a:avLst>
              <a:gd name="adj" fmla="val 1900"/>
            </a:avLst>
          </a:prstGeom>
          <a:solidFill>
            <a:srgbClr val="1B3149"/>
          </a:solidFill>
          <a:ln/>
        </p:spPr>
      </p:sp>
      <p:sp>
        <p:nvSpPr>
          <p:cNvPr id="34" name="Text 30"/>
          <p:cNvSpPr txBox="1"/>
          <p:nvPr/>
        </p:nvSpPr>
        <p:spPr>
          <a:xfrm>
            <a:off x="6464808" y="1938528"/>
            <a:ext cx="457200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SAFETY BY DESIGN</a:t>
            </a:r>
            <a:endParaRPr lang="en-US" sz="1500" dirty="0"/>
          </a:p>
        </p:txBody>
      </p:sp>
      <p:sp>
        <p:nvSpPr>
          <p:cNvPr id="35" name="Text 31"/>
          <p:cNvSpPr txBox="1"/>
          <p:nvPr/>
        </p:nvSpPr>
        <p:spPr>
          <a:xfrm>
            <a:off x="6464808" y="2514600"/>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GROUNDING</a:t>
            </a:r>
            <a:endParaRPr lang="en-US" sz="750" dirty="0"/>
          </a:p>
        </p:txBody>
      </p:sp>
      <p:sp>
        <p:nvSpPr>
          <p:cNvPr id="36" name="Text 32"/>
          <p:cNvSpPr txBox="1"/>
          <p:nvPr/>
        </p:nvSpPr>
        <p:spPr>
          <a:xfrm>
            <a:off x="7918704" y="248716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Gemini sees only the evidence bundle; never invents measurements.</a:t>
            </a:r>
            <a:endParaRPr lang="en-US" sz="950" dirty="0"/>
          </a:p>
        </p:txBody>
      </p:sp>
      <p:sp>
        <p:nvSpPr>
          <p:cNvPr id="37" name="Text 33"/>
          <p:cNvSpPr txBox="1"/>
          <p:nvPr/>
        </p:nvSpPr>
        <p:spPr>
          <a:xfrm>
            <a:off x="6464808" y="3008376"/>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NUMERIC CHECK</a:t>
            </a:r>
            <a:endParaRPr lang="en-US" sz="750" dirty="0"/>
          </a:p>
        </p:txBody>
      </p:sp>
      <p:sp>
        <p:nvSpPr>
          <p:cNvPr id="38" name="Text 34"/>
          <p:cNvSpPr txBox="1"/>
          <p:nvPr/>
        </p:nvSpPr>
        <p:spPr>
          <a:xfrm>
            <a:off x="7918704" y="2980944"/>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Numbers absent from the evidence are flagged as warnings.</a:t>
            </a:r>
            <a:endParaRPr lang="en-US" sz="950" dirty="0"/>
          </a:p>
        </p:txBody>
      </p:sp>
      <p:sp>
        <p:nvSpPr>
          <p:cNvPr id="39" name="Text 35"/>
          <p:cNvSpPr txBox="1"/>
          <p:nvPr/>
        </p:nvSpPr>
        <p:spPr>
          <a:xfrm>
            <a:off x="6464808" y="3502152"/>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RULE BOUND</a:t>
            </a:r>
            <a:endParaRPr lang="en-US" sz="750" dirty="0"/>
          </a:p>
        </p:txBody>
      </p:sp>
      <p:sp>
        <p:nvSpPr>
          <p:cNvPr id="40" name="Text 36"/>
          <p:cNvSpPr txBox="1"/>
          <p:nvPr/>
        </p:nvSpPr>
        <p:spPr>
          <a:xfrm>
            <a:off x="7918704" y="3474720"/>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Actions outside the jurisdiction’s rules are dropped.</a:t>
            </a:r>
            <a:endParaRPr lang="en-US" sz="950" dirty="0"/>
          </a:p>
        </p:txBody>
      </p:sp>
      <p:sp>
        <p:nvSpPr>
          <p:cNvPr id="41" name="Text 37"/>
          <p:cNvSpPr txBox="1"/>
          <p:nvPr/>
        </p:nvSpPr>
        <p:spPr>
          <a:xfrm>
            <a:off x="6464808" y="3995928"/>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PROVENANCE</a:t>
            </a:r>
            <a:endParaRPr lang="en-US" sz="750" dirty="0"/>
          </a:p>
        </p:txBody>
      </p:sp>
      <p:sp>
        <p:nvSpPr>
          <p:cNvPr id="42" name="Text 38"/>
          <p:cNvSpPr txBox="1"/>
          <p:nvPr/>
        </p:nvSpPr>
        <p:spPr>
          <a:xfrm>
            <a:off x="7918704" y="3968496"/>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Model, version and prompt version stored on every AI record.</a:t>
            </a:r>
            <a:endParaRPr lang="en-US" sz="950" dirty="0"/>
          </a:p>
        </p:txBody>
      </p:sp>
      <p:sp>
        <p:nvSpPr>
          <p:cNvPr id="43" name="Text 39"/>
          <p:cNvSpPr txBox="1"/>
          <p:nvPr/>
        </p:nvSpPr>
        <p:spPr>
          <a:xfrm>
            <a:off x="6464808" y="4489704"/>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HONEST DATA</a:t>
            </a:r>
            <a:endParaRPr lang="en-US" sz="750" dirty="0"/>
          </a:p>
        </p:txBody>
      </p:sp>
      <p:sp>
        <p:nvSpPr>
          <p:cNvPr id="44" name="Text 40"/>
          <p:cNvSpPr txBox="1"/>
          <p:nvPr/>
        </p:nvSpPr>
        <p:spPr>
          <a:xfrm>
            <a:off x="7918704" y="4462272"/>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Low-cost sensors labelled indicative; sample data labelled.</a:t>
            </a:r>
            <a:endParaRPr lang="en-US" sz="950" dirty="0"/>
          </a:p>
        </p:txBody>
      </p:sp>
      <p:sp>
        <p:nvSpPr>
          <p:cNvPr id="45" name="Text 41"/>
          <p:cNvSpPr txBox="1"/>
          <p:nvPr/>
        </p:nvSpPr>
        <p:spPr>
          <a:xfrm>
            <a:off x="6464808" y="4983480"/>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PHOTO CHECK</a:t>
            </a:r>
            <a:endParaRPr lang="en-US" sz="750" dirty="0"/>
          </a:p>
        </p:txBody>
      </p:sp>
      <p:sp>
        <p:nvSpPr>
          <p:cNvPr id="46" name="Text 42"/>
          <p:cNvSpPr txBox="1"/>
          <p:nvPr/>
        </p:nvSpPr>
        <p:spPr>
          <a:xfrm>
            <a:off x="7918704" y="495604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Irrelevant or poor photos are rejected and kept out of the score.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09 — OUTCOMES, VALIDATION &amp; SCALE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Earn the right to scale, one clean-air cell at a time.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first proof is not app activity. It is a verified hotspot that led to a timely inspection.</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Current model accuracy uses simulated histories (e.g. Delhi 24 h MAE 13.8 vs 16.7 persistence) and demonstrates the method only.</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10</a:t>
            </a:r>
            <a:endParaRPr lang="en-US" sz="650" dirty="0"/>
          </a:p>
        </p:txBody>
      </p:sp>
      <p:sp>
        <p:nvSpPr>
          <p:cNvPr id="15" name="Shape 11"/>
          <p:cNvSpPr/>
          <p:nvPr/>
        </p:nvSpPr>
        <p:spPr>
          <a:xfrm>
            <a:off x="621792" y="1737360"/>
            <a:ext cx="1673352" cy="1463040"/>
          </a:xfrm>
          <a:prstGeom prst="roundRect">
            <a:avLst>
              <a:gd name="adj" fmla="val 6250"/>
            </a:avLst>
          </a:prstGeom>
          <a:solidFill>
            <a:srgbClr val="FFFDF7"/>
          </a:solidFill>
          <a:ln w="9525">
            <a:solidFill>
              <a:srgbClr val="DCD5C5"/>
            </a:solidFill>
            <a:prstDash val="solid"/>
          </a:ln>
        </p:spPr>
      </p:sp>
      <p:sp>
        <p:nvSpPr>
          <p:cNvPr id="16" name="Text 12"/>
          <p:cNvSpPr txBox="1"/>
          <p:nvPr/>
        </p:nvSpPr>
        <p:spPr>
          <a:xfrm>
            <a:off x="75895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69494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DETECTION</a:t>
            </a:r>
            <a:endParaRPr lang="en-US" sz="1050" dirty="0"/>
          </a:p>
        </p:txBody>
      </p:sp>
      <p:sp>
        <p:nvSpPr>
          <p:cNvPr id="18" name="Text 14"/>
          <p:cNvSpPr txBox="1"/>
          <p:nvPr/>
        </p:nvSpPr>
        <p:spPr>
          <a:xfrm>
            <a:off x="71323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Hotspots found outside station coverage</a:t>
            </a:r>
            <a:endParaRPr lang="en-US" sz="850" dirty="0"/>
          </a:p>
        </p:txBody>
      </p:sp>
      <p:sp>
        <p:nvSpPr>
          <p:cNvPr id="19" name="Text 15"/>
          <p:cNvSpPr txBox="1"/>
          <p:nvPr/>
        </p:nvSpPr>
        <p:spPr>
          <a:xfrm>
            <a:off x="229514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0" name="Shape 16"/>
          <p:cNvSpPr/>
          <p:nvPr/>
        </p:nvSpPr>
        <p:spPr>
          <a:xfrm>
            <a:off x="2542032" y="1737360"/>
            <a:ext cx="1673352" cy="1463040"/>
          </a:xfrm>
          <a:prstGeom prst="roundRect">
            <a:avLst>
              <a:gd name="adj" fmla="val 6250"/>
            </a:avLst>
          </a:prstGeom>
          <a:solidFill>
            <a:srgbClr val="FFFDF7"/>
          </a:solidFill>
          <a:ln w="9525">
            <a:solidFill>
              <a:srgbClr val="DCD5C5"/>
            </a:solidFill>
            <a:prstDash val="solid"/>
          </a:ln>
        </p:spPr>
      </p:sp>
      <p:sp>
        <p:nvSpPr>
          <p:cNvPr id="21" name="Text 17"/>
          <p:cNvSpPr txBox="1"/>
          <p:nvPr/>
        </p:nvSpPr>
        <p:spPr>
          <a:xfrm>
            <a:off x="267919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2" name="Text 18"/>
          <p:cNvSpPr txBox="1"/>
          <p:nvPr/>
        </p:nvSpPr>
        <p:spPr>
          <a:xfrm>
            <a:off x="261518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RESPONSE</a:t>
            </a:r>
            <a:endParaRPr lang="en-US" sz="1050" dirty="0"/>
          </a:p>
        </p:txBody>
      </p:sp>
      <p:sp>
        <p:nvSpPr>
          <p:cNvPr id="23" name="Text 19"/>
          <p:cNvSpPr txBox="1"/>
          <p:nvPr/>
        </p:nvSpPr>
        <p:spPr>
          <a:xfrm>
            <a:off x="263347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Alert-to-action time falls</a:t>
            </a:r>
            <a:endParaRPr lang="en-US" sz="850" dirty="0"/>
          </a:p>
        </p:txBody>
      </p:sp>
      <p:sp>
        <p:nvSpPr>
          <p:cNvPr id="24" name="Text 20"/>
          <p:cNvSpPr txBox="1"/>
          <p:nvPr/>
        </p:nvSpPr>
        <p:spPr>
          <a:xfrm>
            <a:off x="421538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5" name="Shape 21"/>
          <p:cNvSpPr/>
          <p:nvPr/>
        </p:nvSpPr>
        <p:spPr>
          <a:xfrm>
            <a:off x="4462272" y="1737360"/>
            <a:ext cx="1673352" cy="1463040"/>
          </a:xfrm>
          <a:prstGeom prst="roundRect">
            <a:avLst>
              <a:gd name="adj" fmla="val 6250"/>
            </a:avLst>
          </a:prstGeom>
          <a:solidFill>
            <a:srgbClr val="DCEEE8"/>
          </a:solidFill>
          <a:ln w="9525">
            <a:solidFill>
              <a:srgbClr val="12796D"/>
            </a:solidFill>
            <a:prstDash val="solid"/>
          </a:ln>
        </p:spPr>
      </p:sp>
      <p:sp>
        <p:nvSpPr>
          <p:cNvPr id="26" name="Text 22"/>
          <p:cNvSpPr txBox="1"/>
          <p:nvPr/>
        </p:nvSpPr>
        <p:spPr>
          <a:xfrm>
            <a:off x="459943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7" name="Text 23"/>
          <p:cNvSpPr txBox="1"/>
          <p:nvPr/>
        </p:nvSpPr>
        <p:spPr>
          <a:xfrm>
            <a:off x="453542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TARGETING</a:t>
            </a:r>
            <a:endParaRPr lang="en-US" sz="1050" dirty="0"/>
          </a:p>
        </p:txBody>
      </p:sp>
      <p:sp>
        <p:nvSpPr>
          <p:cNvPr id="28" name="Text 24"/>
          <p:cNvSpPr txBox="1"/>
          <p:nvPr/>
        </p:nvSpPr>
        <p:spPr>
          <a:xfrm>
            <a:off x="455371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Inspections guided by evidence</a:t>
            </a:r>
            <a:endParaRPr lang="en-US" sz="850" dirty="0"/>
          </a:p>
        </p:txBody>
      </p:sp>
      <p:sp>
        <p:nvSpPr>
          <p:cNvPr id="29" name="Text 25"/>
          <p:cNvSpPr txBox="1"/>
          <p:nvPr/>
        </p:nvSpPr>
        <p:spPr>
          <a:xfrm>
            <a:off x="613562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30" name="Shape 26"/>
          <p:cNvSpPr/>
          <p:nvPr/>
        </p:nvSpPr>
        <p:spPr>
          <a:xfrm>
            <a:off x="6382512" y="1737360"/>
            <a:ext cx="1673352" cy="1463040"/>
          </a:xfrm>
          <a:prstGeom prst="roundRect">
            <a:avLst>
              <a:gd name="adj" fmla="val 6250"/>
            </a:avLst>
          </a:prstGeom>
          <a:solidFill>
            <a:srgbClr val="FFFDF7"/>
          </a:solidFill>
          <a:ln w="9525">
            <a:solidFill>
              <a:srgbClr val="DCD5C5"/>
            </a:solidFill>
            <a:prstDash val="solid"/>
          </a:ln>
        </p:spPr>
      </p:sp>
      <p:sp>
        <p:nvSpPr>
          <p:cNvPr id="31" name="Text 27"/>
          <p:cNvSpPr txBox="1"/>
          <p:nvPr/>
        </p:nvSpPr>
        <p:spPr>
          <a:xfrm>
            <a:off x="651967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32" name="Text 28"/>
          <p:cNvSpPr txBox="1"/>
          <p:nvPr/>
        </p:nvSpPr>
        <p:spPr>
          <a:xfrm>
            <a:off x="645566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HEALTH</a:t>
            </a:r>
            <a:endParaRPr lang="en-US" sz="1050" dirty="0"/>
          </a:p>
        </p:txBody>
      </p:sp>
      <p:sp>
        <p:nvSpPr>
          <p:cNvPr id="33" name="Text 29"/>
          <p:cNvSpPr txBox="1"/>
          <p:nvPr/>
        </p:nvSpPr>
        <p:spPr>
          <a:xfrm>
            <a:off x="647395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Less exposure during spikes</a:t>
            </a:r>
            <a:endParaRPr lang="en-US" sz="850" dirty="0"/>
          </a:p>
        </p:txBody>
      </p:sp>
      <p:sp>
        <p:nvSpPr>
          <p:cNvPr id="34" name="Shape 30"/>
          <p:cNvSpPr/>
          <p:nvPr/>
        </p:nvSpPr>
        <p:spPr>
          <a:xfrm>
            <a:off x="8366760" y="1737360"/>
            <a:ext cx="3227832" cy="1463040"/>
          </a:xfrm>
          <a:prstGeom prst="roundRect">
            <a:avLst>
              <a:gd name="adj" fmla="val 5000"/>
            </a:avLst>
          </a:prstGeom>
          <a:solidFill>
            <a:srgbClr val="1B3149"/>
          </a:solidFill>
          <a:ln/>
        </p:spPr>
      </p:sp>
      <p:sp>
        <p:nvSpPr>
          <p:cNvPr id="35" name="Text 31"/>
          <p:cNvSpPr txBox="1"/>
          <p:nvPr/>
        </p:nvSpPr>
        <p:spPr>
          <a:xfrm>
            <a:off x="8622792" y="1956816"/>
            <a:ext cx="2743200" cy="137160"/>
          </a:xfrm>
          <a:prstGeom prst="rect">
            <a:avLst/>
          </a:prstGeom>
          <a:noFill/>
          <a:ln/>
        </p:spPr>
        <p:txBody>
          <a:bodyPr wrap="square" lIns="0" tIns="0" rIns="0" bIns="0" rtlCol="0" anchor="t"/>
          <a:lstStyle/>
          <a:p>
            <a:pPr indent="0" marL="0">
              <a:buNone/>
            </a:pPr>
            <a:r>
              <a:rPr lang="en-US" sz="750" b="1" dirty="0">
                <a:solidFill>
                  <a:srgbClr val="9ED8CC"/>
                </a:solidFill>
                <a:latin typeface="Arial" pitchFamily="34" charset="0"/>
                <a:ea typeface="Arial" pitchFamily="34" charset="-122"/>
                <a:cs typeface="Arial" pitchFamily="34" charset="-120"/>
              </a:rPr>
              <a:t>MEASURE WITH</a:t>
            </a:r>
            <a:endParaRPr lang="en-US" sz="750" dirty="0"/>
          </a:p>
        </p:txBody>
      </p:sp>
      <p:sp>
        <p:nvSpPr>
          <p:cNvPr id="36" name="Text 32"/>
          <p:cNvSpPr txBox="1"/>
          <p:nvPr/>
        </p:nvSpPr>
        <p:spPr>
          <a:xfrm>
            <a:off x="8622792" y="2240280"/>
            <a:ext cx="2788920" cy="868680"/>
          </a:xfrm>
          <a:prstGeom prst="rect">
            <a:avLst/>
          </a:prstGeom>
          <a:noFill/>
          <a:ln/>
        </p:spPr>
        <p:txBody>
          <a:bodyPr wrap="square" lIns="0" tIns="0" rIns="0" bIns="0"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Alert-to-action time (audit trail)</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Photo check vs labelled set</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Forecast MAE vs persistence</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Sensor error vs co-located station</a:t>
            </a:r>
            <a:endParaRPr lang="en-US" sz="950" dirty="0"/>
          </a:p>
        </p:txBody>
      </p:sp>
      <p:sp>
        <p:nvSpPr>
          <p:cNvPr id="37" name="Text 33"/>
          <p:cNvSpPr txBox="1"/>
          <p:nvPr/>
        </p:nvSpPr>
        <p:spPr>
          <a:xfrm>
            <a:off x="640080" y="367588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VALIDATION GATES</a:t>
            </a:r>
            <a:endParaRPr lang="en-US" sz="800" dirty="0"/>
          </a:p>
        </p:txBody>
      </p:sp>
      <p:sp>
        <p:nvSpPr>
          <p:cNvPr id="38" name="Shape 34"/>
          <p:cNvSpPr/>
          <p:nvPr/>
        </p:nvSpPr>
        <p:spPr>
          <a:xfrm>
            <a:off x="640080" y="4005072"/>
            <a:ext cx="2286000" cy="1051560"/>
          </a:xfrm>
          <a:prstGeom prst="roundRect">
            <a:avLst>
              <a:gd name="adj" fmla="val 6957"/>
            </a:avLst>
          </a:prstGeom>
          <a:solidFill>
            <a:srgbClr val="FFFDF7"/>
          </a:solidFill>
          <a:ln w="9525">
            <a:solidFill>
              <a:srgbClr val="DCD5C5"/>
            </a:solidFill>
            <a:prstDash val="solid"/>
          </a:ln>
        </p:spPr>
      </p:sp>
      <p:sp>
        <p:nvSpPr>
          <p:cNvPr id="39" name="Shape 35"/>
          <p:cNvSpPr/>
          <p:nvPr/>
        </p:nvSpPr>
        <p:spPr>
          <a:xfrm>
            <a:off x="768096" y="4160520"/>
            <a:ext cx="393192" cy="393192"/>
          </a:xfrm>
          <a:prstGeom prst="ellipse">
            <a:avLst/>
          </a:prstGeom>
          <a:solidFill>
            <a:srgbClr val="12796D"/>
          </a:solidFill>
          <a:ln/>
        </p:spPr>
      </p:sp>
      <p:sp>
        <p:nvSpPr>
          <p:cNvPr id="40" name="Text 36"/>
          <p:cNvSpPr txBox="1"/>
          <p:nvPr/>
        </p:nvSpPr>
        <p:spPr>
          <a:xfrm>
            <a:off x="7680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7"/>
          <p:cNvSpPr txBox="1"/>
          <p:nvPr/>
        </p:nvSpPr>
        <p:spPr>
          <a:xfrm>
            <a:off x="12801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CITY PILOT</a:t>
            </a:r>
            <a:endParaRPr lang="en-US" sz="850" dirty="0"/>
          </a:p>
        </p:txBody>
      </p:sp>
      <p:sp>
        <p:nvSpPr>
          <p:cNvPr id="42" name="Text 38"/>
          <p:cNvSpPr txBox="1"/>
          <p:nvPr/>
        </p:nvSpPr>
        <p:spPr>
          <a:xfrm>
            <a:off x="12801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1 clean-air cell + SPCB; 10–20 co-located sensors (PRD §50)</a:t>
            </a:r>
            <a:endParaRPr lang="en-US" sz="800" dirty="0"/>
          </a:p>
        </p:txBody>
      </p:sp>
      <p:sp>
        <p:nvSpPr>
          <p:cNvPr id="43" name="Shape 39"/>
          <p:cNvSpPr/>
          <p:nvPr/>
        </p:nvSpPr>
        <p:spPr>
          <a:xfrm>
            <a:off x="3154680" y="4005072"/>
            <a:ext cx="2286000" cy="1051560"/>
          </a:xfrm>
          <a:prstGeom prst="roundRect">
            <a:avLst>
              <a:gd name="adj" fmla="val 6957"/>
            </a:avLst>
          </a:prstGeom>
          <a:solidFill>
            <a:srgbClr val="FFFDF7"/>
          </a:solidFill>
          <a:ln w="9525">
            <a:solidFill>
              <a:srgbClr val="DCD5C5"/>
            </a:solidFill>
            <a:prstDash val="solid"/>
          </a:ln>
        </p:spPr>
      </p:sp>
      <p:sp>
        <p:nvSpPr>
          <p:cNvPr id="44" name="Shape 40"/>
          <p:cNvSpPr/>
          <p:nvPr/>
        </p:nvSpPr>
        <p:spPr>
          <a:xfrm>
            <a:off x="3282696" y="4160520"/>
            <a:ext cx="393192" cy="393192"/>
          </a:xfrm>
          <a:prstGeom prst="ellipse">
            <a:avLst/>
          </a:prstGeom>
          <a:solidFill>
            <a:srgbClr val="12796D"/>
          </a:solidFill>
          <a:ln/>
        </p:spPr>
      </p:sp>
      <p:sp>
        <p:nvSpPr>
          <p:cNvPr id="45" name="Text 41"/>
          <p:cNvSpPr txBox="1"/>
          <p:nvPr/>
        </p:nvSpPr>
        <p:spPr>
          <a:xfrm>
            <a:off x="32826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6" name="Text 42"/>
          <p:cNvSpPr txBox="1"/>
          <p:nvPr/>
        </p:nvSpPr>
        <p:spPr>
          <a:xfrm>
            <a:off x="37947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CALIBRATE + BACKTEST</a:t>
            </a:r>
            <a:endParaRPr lang="en-US" sz="850" dirty="0"/>
          </a:p>
        </p:txBody>
      </p:sp>
      <p:sp>
        <p:nvSpPr>
          <p:cNvPr id="47" name="Text 43"/>
          <p:cNvSpPr txBox="1"/>
          <p:nvPr/>
        </p:nvSpPr>
        <p:spPr>
          <a:xfrm>
            <a:off x="37947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Refit calibration; forecast must beat persistence at 24 h</a:t>
            </a:r>
            <a:endParaRPr lang="en-US" sz="800" dirty="0"/>
          </a:p>
        </p:txBody>
      </p:sp>
      <p:sp>
        <p:nvSpPr>
          <p:cNvPr id="48" name="Shape 44"/>
          <p:cNvSpPr/>
          <p:nvPr/>
        </p:nvSpPr>
        <p:spPr>
          <a:xfrm>
            <a:off x="5669280" y="4005072"/>
            <a:ext cx="2286000" cy="1051560"/>
          </a:xfrm>
          <a:prstGeom prst="roundRect">
            <a:avLst>
              <a:gd name="adj" fmla="val 6957"/>
            </a:avLst>
          </a:prstGeom>
          <a:solidFill>
            <a:srgbClr val="FFFDF7"/>
          </a:solidFill>
          <a:ln w="9525">
            <a:solidFill>
              <a:srgbClr val="DCD5C5"/>
            </a:solidFill>
            <a:prstDash val="solid"/>
          </a:ln>
        </p:spPr>
      </p:sp>
      <p:sp>
        <p:nvSpPr>
          <p:cNvPr id="49" name="Shape 45"/>
          <p:cNvSpPr/>
          <p:nvPr/>
        </p:nvSpPr>
        <p:spPr>
          <a:xfrm>
            <a:off x="5797296" y="4160520"/>
            <a:ext cx="393192" cy="393192"/>
          </a:xfrm>
          <a:prstGeom prst="ellipse">
            <a:avLst/>
          </a:prstGeom>
          <a:solidFill>
            <a:srgbClr val="E8694A"/>
          </a:solidFill>
          <a:ln/>
        </p:spPr>
      </p:sp>
      <p:sp>
        <p:nvSpPr>
          <p:cNvPr id="50" name="Text 46"/>
          <p:cNvSpPr txBox="1"/>
          <p:nvPr/>
        </p:nvSpPr>
        <p:spPr>
          <a:xfrm>
            <a:off x="57972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1" name="Text 47"/>
          <p:cNvSpPr txBox="1"/>
          <p:nvPr/>
        </p:nvSpPr>
        <p:spPr>
          <a:xfrm>
            <a:off x="63093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CLAIM CAREFULLY</a:t>
            </a:r>
            <a:endParaRPr lang="en-US" sz="850" dirty="0"/>
          </a:p>
        </p:txBody>
      </p:sp>
      <p:sp>
        <p:nvSpPr>
          <p:cNvPr id="52" name="Text 48"/>
          <p:cNvSpPr txBox="1"/>
          <p:nvPr/>
        </p:nvSpPr>
        <p:spPr>
          <a:xfrm>
            <a:off x="63093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Report hit rate per inspection; no health claims yet</a:t>
            </a:r>
            <a:endParaRPr lang="en-US" sz="800" dirty="0"/>
          </a:p>
        </p:txBody>
      </p:sp>
      <p:sp>
        <p:nvSpPr>
          <p:cNvPr id="53" name="Shape 49"/>
          <p:cNvSpPr/>
          <p:nvPr/>
        </p:nvSpPr>
        <p:spPr>
          <a:xfrm>
            <a:off x="658368" y="5431536"/>
            <a:ext cx="1078992" cy="310896"/>
          </a:xfrm>
          <a:prstGeom prst="roundRect">
            <a:avLst>
              <a:gd name="adj" fmla="val 23529"/>
            </a:avLst>
          </a:prstGeom>
          <a:solidFill>
            <a:srgbClr val="E8694A"/>
          </a:solidFill>
          <a:ln/>
        </p:spPr>
      </p:sp>
      <p:sp>
        <p:nvSpPr>
          <p:cNvPr id="54" name="Text 50"/>
          <p:cNvSpPr txBox="1"/>
          <p:nvPr/>
        </p:nvSpPr>
        <p:spPr>
          <a:xfrm>
            <a:off x="658368" y="5431536"/>
            <a:ext cx="107899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BUDGET ROUTE</a:t>
            </a:r>
            <a:endParaRPr lang="en-US" sz="700" dirty="0"/>
          </a:p>
        </p:txBody>
      </p:sp>
      <p:sp>
        <p:nvSpPr>
          <p:cNvPr id="55" name="Text 51"/>
          <p:cNvSpPr txBox="1"/>
          <p:nvPr/>
        </p:nvSpPr>
        <p:spPr>
          <a:xfrm>
            <a:off x="1901952" y="5358384"/>
            <a:ext cx="6035040" cy="457200"/>
          </a:xfrm>
          <a:prstGeom prst="rect">
            <a:avLst/>
          </a:prstGeom>
          <a:noFill/>
          <a:ln/>
        </p:spPr>
        <p:txBody>
          <a:bodyPr wrap="square" lIns="0" tIns="0" rIns="0" bIns="0" rtlCol="0" anchor="ctr">
            <a:normAutofit/>
          </a:bodyPr>
          <a:lstStyle/>
          <a:p>
            <a:pPr indent="0" marL="0">
              <a:buNone/>
            </a:pPr>
            <a:r>
              <a:rPr lang="en-US" sz="1100" b="1" dirty="0">
                <a:solidFill>
                  <a:srgbClr val="1B3149"/>
                </a:solidFill>
                <a:latin typeface="Arial" pitchFamily="34" charset="0"/>
                <a:ea typeface="Arial" pitchFamily="34" charset="-122"/>
                <a:cs typeface="Arial" pitchFamily="34" charset="-120"/>
              </a:rPr>
              <a:t>NCAP city clean-air action-plan funding (MoEFCC), tracked on PRANA [8]; pilot fit to confirm with the SPCB.</a:t>
            </a:r>
            <a:endParaRPr lang="en-US" sz="1100" dirty="0"/>
          </a:p>
        </p:txBody>
      </p:sp>
      <p:sp>
        <p:nvSpPr>
          <p:cNvPr id="56" name="Shape 52"/>
          <p:cNvSpPr/>
          <p:nvPr/>
        </p:nvSpPr>
        <p:spPr>
          <a:xfrm>
            <a:off x="8366760" y="3657600"/>
            <a:ext cx="3227832" cy="1993392"/>
          </a:xfrm>
          <a:prstGeom prst="roundRect">
            <a:avLst>
              <a:gd name="adj" fmla="val 3670"/>
            </a:avLst>
          </a:prstGeom>
          <a:solidFill>
            <a:srgbClr val="DCEEE8"/>
          </a:solidFill>
          <a:ln w="9525">
            <a:solidFill>
              <a:srgbClr val="12796D"/>
            </a:solidFill>
            <a:prstDash val="solid"/>
          </a:ln>
        </p:spPr>
      </p:sp>
      <p:sp>
        <p:nvSpPr>
          <p:cNvPr id="57" name="Text 53"/>
          <p:cNvSpPr txBox="1"/>
          <p:nvPr/>
        </p:nvSpPr>
        <p:spPr>
          <a:xfrm>
            <a:off x="8622792" y="3867912"/>
            <a:ext cx="274320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OWNERSHIP + SCALE</a:t>
            </a:r>
            <a:endParaRPr lang="en-US" sz="1200" dirty="0"/>
          </a:p>
        </p:txBody>
      </p:sp>
      <p:sp>
        <p:nvSpPr>
          <p:cNvPr id="58" name="Text 54"/>
          <p:cNvSpPr txBox="1"/>
          <p:nvPr/>
        </p:nvSpPr>
        <p:spPr>
          <a:xfrm>
            <a:off x="8622792" y="4343400"/>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Owner</a:t>
            </a:r>
            <a:endParaRPr lang="en-US" sz="850" dirty="0"/>
          </a:p>
        </p:txBody>
      </p:sp>
      <p:sp>
        <p:nvSpPr>
          <p:cNvPr id="59" name="Text 55"/>
          <p:cNvSpPr txBox="1"/>
          <p:nvPr/>
        </p:nvSpPr>
        <p:spPr>
          <a:xfrm>
            <a:off x="9418320" y="4315968"/>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Pollution Control Board / city clean-air cell</a:t>
            </a:r>
            <a:endParaRPr lang="en-US" sz="850" dirty="0"/>
          </a:p>
        </p:txBody>
      </p:sp>
      <p:sp>
        <p:nvSpPr>
          <p:cNvPr id="60" name="Text 56"/>
          <p:cNvSpPr txBox="1"/>
          <p:nvPr/>
        </p:nvSpPr>
        <p:spPr>
          <a:xfrm>
            <a:off x="8622792" y="4773168"/>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Channel</a:t>
            </a:r>
            <a:endParaRPr lang="en-US" sz="850" dirty="0"/>
          </a:p>
        </p:txBody>
      </p:sp>
      <p:sp>
        <p:nvSpPr>
          <p:cNvPr id="61" name="Text 57"/>
          <p:cNvSpPr txBox="1"/>
          <p:nvPr/>
        </p:nvSpPr>
        <p:spPr>
          <a:xfrm>
            <a:off x="9418320" y="4745736"/>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SPCB field teams; neighbour boards via adapters</a:t>
            </a:r>
            <a:endParaRPr lang="en-US" sz="850" dirty="0"/>
          </a:p>
        </p:txBody>
      </p:sp>
      <p:sp>
        <p:nvSpPr>
          <p:cNvPr id="62" name="Text 58"/>
          <p:cNvSpPr txBox="1"/>
          <p:nvPr/>
        </p:nvSpPr>
        <p:spPr>
          <a:xfrm>
            <a:off x="8622792" y="5202936"/>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Scale</a:t>
            </a:r>
            <a:endParaRPr lang="en-US" sz="850" dirty="0"/>
          </a:p>
        </p:txBody>
      </p:sp>
      <p:sp>
        <p:nvSpPr>
          <p:cNvPr id="63" name="Text 59"/>
          <p:cNvSpPr txBox="1"/>
          <p:nvPr/>
        </p:nvSpPr>
        <p:spPr>
          <a:xfrm>
            <a:off x="9418320" y="5175504"/>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New state = JSON adapter + language pack</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10 — LIVE PROTOTYPE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Working today, end to end.</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header badge in both apps shows which integrations are live and which run on sample data.</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Screenshots: local run on labelled sample data, 30 Sep 2026. Map © OpenStreetMap contributors; sample photo CC BY-SA (THIRD_PARTY.md).</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11</a:t>
            </a:r>
            <a:endParaRPr lang="en-US" sz="650" dirty="0"/>
          </a:p>
        </p:txBody>
      </p:sp>
      <p:sp>
        <p:nvSpPr>
          <p:cNvPr id="15" name="Shape 11"/>
          <p:cNvSpPr/>
          <p:nvPr/>
        </p:nvSpPr>
        <p:spPr>
          <a:xfrm>
            <a:off x="621792" y="1700784"/>
            <a:ext cx="2788920" cy="2331720"/>
          </a:xfrm>
          <a:prstGeom prst="roundRect">
            <a:avLst>
              <a:gd name="adj" fmla="val 2353"/>
            </a:avLst>
          </a:prstGeom>
          <a:solidFill>
            <a:srgbClr val="FFFFFF"/>
          </a:solidFill>
          <a:ln w="9525">
            <a:solidFill>
              <a:srgbClr val="DCD5C5"/>
            </a:solidFill>
            <a:prstDash val="solid"/>
          </a:ln>
        </p:spPr>
      </p:sp>
      <p:pic>
        <p:nvPicPr>
          <p:cNvPr id="16" name="Image 1" descr="/Users/pavan/Documents/Code/Build_with_AI/air-quality-network/docs/pitch/assets/screen-citizen-report.jpg">    </p:cNvPr>
          <p:cNvPicPr>
            <a:picLocks noChangeAspect="1"/>
          </p:cNvPicPr>
          <p:nvPr/>
        </p:nvPicPr>
        <p:blipFill>
          <a:blip r:embed="rId2"/>
          <a:srcRect l="0" r="0" t="0" b="0"/>
          <a:stretch/>
        </p:blipFill>
        <p:spPr>
          <a:xfrm>
            <a:off x="676656" y="1755648"/>
            <a:ext cx="2679192" cy="1920240"/>
          </a:xfrm>
          <a:prstGeom prst="rect">
            <a:avLst/>
          </a:prstGeom>
        </p:spPr>
      </p:pic>
      <p:sp>
        <p:nvSpPr>
          <p:cNvPr id="17" name="Text 12"/>
          <p:cNvSpPr txBox="1"/>
          <p:nvPr/>
        </p:nvSpPr>
        <p:spPr>
          <a:xfrm>
            <a:off x="7315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Citizen app: Hindi report, AI verdict, 66 → 83</a:t>
            </a:r>
            <a:endParaRPr lang="en-US" sz="900" dirty="0"/>
          </a:p>
        </p:txBody>
      </p:sp>
      <p:sp>
        <p:nvSpPr>
          <p:cNvPr id="18" name="Shape 13"/>
          <p:cNvSpPr/>
          <p:nvPr/>
        </p:nvSpPr>
        <p:spPr>
          <a:xfrm>
            <a:off x="3593592" y="1700784"/>
            <a:ext cx="2788920" cy="2331720"/>
          </a:xfrm>
          <a:prstGeom prst="roundRect">
            <a:avLst>
              <a:gd name="adj" fmla="val 2353"/>
            </a:avLst>
          </a:prstGeom>
          <a:solidFill>
            <a:srgbClr val="FFFFFF"/>
          </a:solidFill>
          <a:ln w="9525">
            <a:solidFill>
              <a:srgbClr val="DCD5C5"/>
            </a:solidFill>
            <a:prstDash val="solid"/>
          </a:ln>
        </p:spPr>
      </p:sp>
      <p:pic>
        <p:nvPicPr>
          <p:cNvPr id="19" name="Image 2" descr="/Users/pavan/Documents/Code/Build_with_AI/air-quality-network/docs/pitch/assets/screen-officer-dashboard.jpg">    </p:cNvPr>
          <p:cNvPicPr>
            <a:picLocks noChangeAspect="1"/>
          </p:cNvPicPr>
          <p:nvPr/>
        </p:nvPicPr>
        <p:blipFill>
          <a:blip r:embed="rId3"/>
          <a:srcRect l="0" r="0" t="0" b="0"/>
          <a:stretch/>
        </p:blipFill>
        <p:spPr>
          <a:xfrm>
            <a:off x="3648456" y="1755648"/>
            <a:ext cx="2679192" cy="1920240"/>
          </a:xfrm>
          <a:prstGeom prst="rect">
            <a:avLst/>
          </a:prstGeom>
        </p:spPr>
      </p:pic>
      <p:sp>
        <p:nvSpPr>
          <p:cNvPr id="20" name="Text 14"/>
          <p:cNvSpPr txBox="1"/>
          <p:nvPr/>
        </p:nvSpPr>
        <p:spPr>
          <a:xfrm>
            <a:off x="37033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Officer dashboard: hotspot map + alert inbox</a:t>
            </a:r>
            <a:endParaRPr lang="en-US" sz="900" dirty="0"/>
          </a:p>
        </p:txBody>
      </p:sp>
      <p:sp>
        <p:nvSpPr>
          <p:cNvPr id="21" name="Shape 15"/>
          <p:cNvSpPr/>
          <p:nvPr/>
        </p:nvSpPr>
        <p:spPr>
          <a:xfrm>
            <a:off x="621792" y="4297680"/>
            <a:ext cx="5760720" cy="1755648"/>
          </a:xfrm>
          <a:prstGeom prst="roundRect">
            <a:avLst>
              <a:gd name="adj" fmla="val 4167"/>
            </a:avLst>
          </a:prstGeom>
          <a:solidFill>
            <a:srgbClr val="1B3149"/>
          </a:solidFill>
          <a:ln/>
        </p:spPr>
      </p:sp>
      <p:sp>
        <p:nvSpPr>
          <p:cNvPr id="22" name="Text 16"/>
          <p:cNvSpPr txBox="1"/>
          <p:nvPr/>
        </p:nvSpPr>
        <p:spPr>
          <a:xfrm>
            <a:off x="896112" y="4480560"/>
            <a:ext cx="4572000" cy="182880"/>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TRY IT</a:t>
            </a:r>
            <a:endParaRPr lang="en-US" sz="850" dirty="0"/>
          </a:p>
        </p:txBody>
      </p:sp>
      <p:sp>
        <p:nvSpPr>
          <p:cNvPr id="23" name="Text 17"/>
          <p:cNvSpPr txBox="1"/>
          <p:nvPr/>
        </p:nvSpPr>
        <p:spPr>
          <a:xfrm>
            <a:off x="896112" y="4773168"/>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Citizen app</a:t>
            </a:r>
            <a:endParaRPr lang="en-US" sz="850" dirty="0"/>
          </a:p>
        </p:txBody>
      </p:sp>
      <p:sp>
        <p:nvSpPr>
          <p:cNvPr id="24" name="Text 18">
            <a:hlinkClick r:id="rId4" tooltip=""/>
          </p:cNvPr>
          <p:cNvSpPr txBox="1"/>
          <p:nvPr/>
        </p:nvSpPr>
        <p:spPr>
          <a:xfrm>
            <a:off x="2377440" y="4773168"/>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https://air-quality-network-citizen-web-847963771142.asia-south1.run.app</a:t>
            </a:r>
            <a:endParaRPr lang="en-US" sz="850" dirty="0"/>
          </a:p>
        </p:txBody>
      </p:sp>
      <p:sp>
        <p:nvSpPr>
          <p:cNvPr id="25" name="Text 19"/>
          <p:cNvSpPr txBox="1"/>
          <p:nvPr/>
        </p:nvSpPr>
        <p:spPr>
          <a:xfrm>
            <a:off x="896112" y="5065776"/>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Officer dashboard</a:t>
            </a:r>
            <a:endParaRPr lang="en-US" sz="850" dirty="0"/>
          </a:p>
        </p:txBody>
      </p:sp>
      <p:sp>
        <p:nvSpPr>
          <p:cNvPr id="26" name="Text 20">
            <a:hlinkClick r:id="rId5" tooltip=""/>
          </p:cNvPr>
          <p:cNvSpPr txBox="1"/>
          <p:nvPr/>
        </p:nvSpPr>
        <p:spPr>
          <a:xfrm>
            <a:off x="2377440" y="5065776"/>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https://air-quality-network-officer-dashboard-847963771142.asia-south1.run.app</a:t>
            </a:r>
            <a:endParaRPr lang="en-US" sz="850" dirty="0"/>
          </a:p>
        </p:txBody>
      </p:sp>
      <p:sp>
        <p:nvSpPr>
          <p:cNvPr id="27" name="Text 21"/>
          <p:cNvSpPr txBox="1"/>
          <p:nvPr/>
        </p:nvSpPr>
        <p:spPr>
          <a:xfrm>
            <a:off x="896112" y="5358384"/>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API (/docs)</a:t>
            </a:r>
            <a:endParaRPr lang="en-US" sz="850" dirty="0"/>
          </a:p>
        </p:txBody>
      </p:sp>
      <p:sp>
        <p:nvSpPr>
          <p:cNvPr id="28" name="Text 22">
            <a:hlinkClick r:id="rId6" tooltip=""/>
          </p:cNvPr>
          <p:cNvSpPr txBox="1"/>
          <p:nvPr/>
        </p:nvSpPr>
        <p:spPr>
          <a:xfrm>
            <a:off x="2377440" y="5358384"/>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https://air-quality-network-api-847963771142.asia-south1.run.app/docs</a:t>
            </a:r>
            <a:endParaRPr lang="en-US" sz="850" dirty="0"/>
          </a:p>
        </p:txBody>
      </p:sp>
      <p:sp>
        <p:nvSpPr>
          <p:cNvPr id="29" name="Text 23"/>
          <p:cNvSpPr txBox="1"/>
          <p:nvPr/>
        </p:nvSpPr>
        <p:spPr>
          <a:xfrm>
            <a:off x="896112" y="5650992"/>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Source</a:t>
            </a:r>
            <a:endParaRPr lang="en-US" sz="850" dirty="0"/>
          </a:p>
        </p:txBody>
      </p:sp>
      <p:sp>
        <p:nvSpPr>
          <p:cNvPr id="30" name="Text 24">
            <a:hlinkClick r:id="rId7" tooltip=""/>
          </p:cNvPr>
          <p:cNvSpPr txBox="1"/>
          <p:nvPr/>
        </p:nvSpPr>
        <p:spPr>
          <a:xfrm>
            <a:off x="2377440" y="5650992"/>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https://github.com/ipavanreddy/air-quality-network</a:t>
            </a:r>
            <a:endParaRPr lang="en-US" sz="850" dirty="0"/>
          </a:p>
        </p:txBody>
      </p:sp>
      <p:sp>
        <p:nvSpPr>
          <p:cNvPr id="31" name="Text 25"/>
          <p:cNvSpPr txBox="1"/>
          <p:nvPr/>
        </p:nvSpPr>
        <p:spPr>
          <a:xfrm>
            <a:off x="6720840" y="1700784"/>
            <a:ext cx="4572000" cy="182880"/>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EVALUATION ALIGNMENT</a:t>
            </a:r>
            <a:endParaRPr lang="en-US" sz="850" dirty="0"/>
          </a:p>
        </p:txBody>
      </p:sp>
      <p:sp>
        <p:nvSpPr>
          <p:cNvPr id="32" name="Shape 26"/>
          <p:cNvSpPr/>
          <p:nvPr/>
        </p:nvSpPr>
        <p:spPr>
          <a:xfrm>
            <a:off x="6702552" y="2011680"/>
            <a:ext cx="4892040" cy="676656"/>
          </a:xfrm>
          <a:prstGeom prst="roundRect">
            <a:avLst>
              <a:gd name="adj" fmla="val 10811"/>
            </a:avLst>
          </a:prstGeom>
          <a:solidFill>
            <a:srgbClr val="DCEEE8"/>
          </a:solidFill>
          <a:ln w="9525">
            <a:solidFill>
              <a:srgbClr val="12796D"/>
            </a:solidFill>
            <a:prstDash val="solid"/>
          </a:ln>
        </p:spPr>
      </p:sp>
      <p:sp>
        <p:nvSpPr>
          <p:cNvPr id="33" name="Text 27"/>
          <p:cNvSpPr txBox="1"/>
          <p:nvPr/>
        </p:nvSpPr>
        <p:spPr>
          <a:xfrm>
            <a:off x="6839712" y="2121408"/>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25%</a:t>
            </a:r>
            <a:endParaRPr lang="en-US" sz="1700" dirty="0"/>
          </a:p>
        </p:txBody>
      </p:sp>
      <p:sp>
        <p:nvSpPr>
          <p:cNvPr id="34" name="Text 28"/>
          <p:cNvSpPr txBox="1"/>
          <p:nvPr/>
        </p:nvSpPr>
        <p:spPr>
          <a:xfrm>
            <a:off x="7680960" y="2103120"/>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AI / TECHNICAL EXECUTION</a:t>
            </a:r>
            <a:endParaRPr lang="en-US" sz="850" dirty="0"/>
          </a:p>
        </p:txBody>
      </p:sp>
      <p:sp>
        <p:nvSpPr>
          <p:cNvPr id="35" name="Text 29"/>
          <p:cNvSpPr txBox="1"/>
          <p:nvPr/>
        </p:nvSpPr>
        <p:spPr>
          <a:xfrm>
            <a:off x="7680960" y="2304288"/>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Gemini multimodal + schema-validated briefs, numeric grounding, provenance</a:t>
            </a:r>
            <a:endParaRPr lang="en-US" sz="850" dirty="0"/>
          </a:p>
        </p:txBody>
      </p:sp>
      <p:sp>
        <p:nvSpPr>
          <p:cNvPr id="36" name="Shape 30"/>
          <p:cNvSpPr/>
          <p:nvPr/>
        </p:nvSpPr>
        <p:spPr>
          <a:xfrm>
            <a:off x="6702552" y="2816352"/>
            <a:ext cx="4892040" cy="676656"/>
          </a:xfrm>
          <a:prstGeom prst="roundRect">
            <a:avLst>
              <a:gd name="adj" fmla="val 10811"/>
            </a:avLst>
          </a:prstGeom>
          <a:solidFill>
            <a:srgbClr val="FFFDF7"/>
          </a:solidFill>
          <a:ln w="9525">
            <a:solidFill>
              <a:srgbClr val="DCD5C5"/>
            </a:solidFill>
            <a:prstDash val="solid"/>
          </a:ln>
        </p:spPr>
      </p:sp>
      <p:sp>
        <p:nvSpPr>
          <p:cNvPr id="37" name="Text 31"/>
          <p:cNvSpPr txBox="1"/>
          <p:nvPr/>
        </p:nvSpPr>
        <p:spPr>
          <a:xfrm>
            <a:off x="6839712" y="2926080"/>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38" name="Text 32"/>
          <p:cNvSpPr txBox="1"/>
          <p:nvPr/>
        </p:nvSpPr>
        <p:spPr>
          <a:xfrm>
            <a:off x="7680960" y="2907792"/>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PROBLEM-SOLUTION FIT</a:t>
            </a:r>
            <a:endParaRPr lang="en-US" sz="850" dirty="0"/>
          </a:p>
        </p:txBody>
      </p:sp>
      <p:sp>
        <p:nvSpPr>
          <p:cNvPr id="39" name="Text 33"/>
          <p:cNvSpPr txBox="1"/>
          <p:nvPr/>
        </p:nvSpPr>
        <p:spPr>
          <a:xfrm>
            <a:off x="7680960" y="3108960"/>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Finds events stations miss; routes evidence to the officer who can act</a:t>
            </a:r>
            <a:endParaRPr lang="en-US" sz="850" dirty="0"/>
          </a:p>
        </p:txBody>
      </p:sp>
      <p:sp>
        <p:nvSpPr>
          <p:cNvPr id="40" name="Shape 34"/>
          <p:cNvSpPr/>
          <p:nvPr/>
        </p:nvSpPr>
        <p:spPr>
          <a:xfrm>
            <a:off x="6702552" y="3621024"/>
            <a:ext cx="4892040" cy="676656"/>
          </a:xfrm>
          <a:prstGeom prst="roundRect">
            <a:avLst>
              <a:gd name="adj" fmla="val 10811"/>
            </a:avLst>
          </a:prstGeom>
          <a:solidFill>
            <a:srgbClr val="FFFDF7"/>
          </a:solidFill>
          <a:ln w="9525">
            <a:solidFill>
              <a:srgbClr val="DCD5C5"/>
            </a:solidFill>
            <a:prstDash val="solid"/>
          </a:ln>
        </p:spPr>
      </p:sp>
      <p:sp>
        <p:nvSpPr>
          <p:cNvPr id="41" name="Text 35"/>
          <p:cNvSpPr txBox="1"/>
          <p:nvPr/>
        </p:nvSpPr>
        <p:spPr>
          <a:xfrm>
            <a:off x="6839712" y="3730752"/>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2" name="Text 36"/>
          <p:cNvSpPr txBox="1"/>
          <p:nvPr/>
        </p:nvSpPr>
        <p:spPr>
          <a:xfrm>
            <a:off x="7680960" y="3712464"/>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DEPTH &amp; REACH ACROSS INDIA</a:t>
            </a:r>
            <a:endParaRPr lang="en-US" sz="850" dirty="0"/>
          </a:p>
        </p:txBody>
      </p:sp>
      <p:sp>
        <p:nvSpPr>
          <p:cNvPr id="43" name="Text 37"/>
          <p:cNvSpPr txBox="1"/>
          <p:nvPr/>
        </p:nvSpPr>
        <p:spPr>
          <a:xfrm>
            <a:off x="7680960" y="3913632"/>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3 state adapters, canonical schema, hi/pa/en voice, cross-state alert</a:t>
            </a:r>
            <a:endParaRPr lang="en-US" sz="850" dirty="0"/>
          </a:p>
        </p:txBody>
      </p:sp>
      <p:sp>
        <p:nvSpPr>
          <p:cNvPr id="44" name="Shape 38"/>
          <p:cNvSpPr/>
          <p:nvPr/>
        </p:nvSpPr>
        <p:spPr>
          <a:xfrm>
            <a:off x="6702552" y="4425696"/>
            <a:ext cx="4892040" cy="676656"/>
          </a:xfrm>
          <a:prstGeom prst="roundRect">
            <a:avLst>
              <a:gd name="adj" fmla="val 10811"/>
            </a:avLst>
          </a:prstGeom>
          <a:solidFill>
            <a:srgbClr val="FFFDF7"/>
          </a:solidFill>
          <a:ln w="9525">
            <a:solidFill>
              <a:srgbClr val="DCD5C5"/>
            </a:solidFill>
            <a:prstDash val="solid"/>
          </a:ln>
        </p:spPr>
      </p:sp>
      <p:sp>
        <p:nvSpPr>
          <p:cNvPr id="45" name="Text 39"/>
          <p:cNvSpPr txBox="1"/>
          <p:nvPr/>
        </p:nvSpPr>
        <p:spPr>
          <a:xfrm>
            <a:off x="6839712" y="4535424"/>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6" name="Text 40"/>
          <p:cNvSpPr txBox="1"/>
          <p:nvPr/>
        </p:nvSpPr>
        <p:spPr>
          <a:xfrm>
            <a:off x="7680960" y="4517136"/>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DEPLOYABILITY &amp; SCALABILITY</a:t>
            </a:r>
            <a:endParaRPr lang="en-US" sz="850" dirty="0"/>
          </a:p>
        </p:txBody>
      </p:sp>
      <p:sp>
        <p:nvSpPr>
          <p:cNvPr id="47" name="Text 41"/>
          <p:cNvSpPr txBox="1"/>
          <p:nvPr/>
        </p:nvSpPr>
        <p:spPr>
          <a:xfrm>
            <a:off x="7680960" y="4718304"/>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Cloud Run + BigQuery + GCS; a new state is a JSON adapter</a:t>
            </a:r>
            <a:endParaRPr lang="en-US" sz="850" dirty="0"/>
          </a:p>
        </p:txBody>
      </p:sp>
      <p:sp>
        <p:nvSpPr>
          <p:cNvPr id="48" name="Shape 42"/>
          <p:cNvSpPr/>
          <p:nvPr/>
        </p:nvSpPr>
        <p:spPr>
          <a:xfrm>
            <a:off x="6702552" y="5230368"/>
            <a:ext cx="4892040" cy="676656"/>
          </a:xfrm>
          <a:prstGeom prst="roundRect">
            <a:avLst>
              <a:gd name="adj" fmla="val 10811"/>
            </a:avLst>
          </a:prstGeom>
          <a:solidFill>
            <a:srgbClr val="FFFDF7"/>
          </a:solidFill>
          <a:ln w="9525">
            <a:solidFill>
              <a:srgbClr val="DCD5C5"/>
            </a:solidFill>
            <a:prstDash val="solid"/>
          </a:ln>
        </p:spPr>
      </p:sp>
      <p:sp>
        <p:nvSpPr>
          <p:cNvPr id="49" name="Text 43"/>
          <p:cNvSpPr txBox="1"/>
          <p:nvPr/>
        </p:nvSpPr>
        <p:spPr>
          <a:xfrm>
            <a:off x="6839712" y="5340096"/>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15%</a:t>
            </a:r>
            <a:endParaRPr lang="en-US" sz="1700" dirty="0"/>
          </a:p>
        </p:txBody>
      </p:sp>
      <p:sp>
        <p:nvSpPr>
          <p:cNvPr id="50" name="Text 44"/>
          <p:cNvSpPr txBox="1"/>
          <p:nvPr/>
        </p:nvSpPr>
        <p:spPr>
          <a:xfrm>
            <a:off x="7680960" y="5321808"/>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IMPACT POTENTIAL</a:t>
            </a:r>
            <a:endParaRPr lang="en-US" sz="850" dirty="0"/>
          </a:p>
        </p:txBody>
      </p:sp>
      <p:sp>
        <p:nvSpPr>
          <p:cNvPr id="51" name="Text 45"/>
          <p:cNvSpPr txBox="1"/>
          <p:nvPr/>
        </p:nvSpPr>
        <p:spPr>
          <a:xfrm>
            <a:off x="7680960" y="5522976"/>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India’s most polluted corridors; approved health advisories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Problem evidence &amp; public systems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Numbered references correspond to citations in the core proposal.</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12</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[1]</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VayuDrishti PRD (Track 2 brief)</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docs/PRD.md §2 (problem), §43–44 (scenarios), §50 (scale). Challenge framing and demo design.</a:t>
            </a:r>
            <a:endParaRPr lang="en-US" sz="1000" dirty="0"/>
          </a:p>
        </p:txBody>
      </p:sp>
      <p:sp>
        <p:nvSpPr>
          <p:cNvPr id="18" name="Text 14"/>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dirty="0">
                <a:solidFill>
                  <a:srgbClr val="E8694A"/>
                </a:solidFill>
                <a:latin typeface="Arial" pitchFamily="34" charset="0"/>
                <a:ea typeface="Arial" pitchFamily="34" charset="-122"/>
                <a:cs typeface="Arial" pitchFamily="34" charset="-120"/>
              </a:rPr>
              <a:t>LOCAL EVIDENCE</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CPCB: National Air Quality Index</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Central Pollution Control Board. AQI categories and the national real-time monitoring network.</a:t>
            </a:r>
            <a:endParaRPr lang="en-US" sz="1000" dirty="0"/>
          </a:p>
        </p:txBody>
      </p:sp>
      <p:sp>
        <p:nvSpPr>
          <p:cNvPr id="23" name="Text 19">
            <a:hlinkClick r:id="rId2"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[3]</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SAFAR, IITM Pune (MoES)</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System of Air Quality and Weather Forecasting and Research: AQI and forecasts for Delhi, Pune, Mumbai, Ahmedabad.</a:t>
            </a:r>
            <a:endParaRPr lang="en-US" sz="1000" dirty="0"/>
          </a:p>
        </p:txBody>
      </p:sp>
      <p:sp>
        <p:nvSpPr>
          <p:cNvPr id="28" name="Text 24">
            <a:hlinkClick r:id="rId3"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[4]</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Commission for Air Quality Management</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Statutory body for Delhi NCR and adjoining areas; administers the Graded Response Action Plan (GRAP).</a:t>
            </a:r>
            <a:endParaRPr lang="en-US" sz="1000" dirty="0"/>
          </a:p>
        </p:txBody>
      </p:sp>
      <p:sp>
        <p:nvSpPr>
          <p:cNvPr id="33" name="Text 29">
            <a:hlinkClick r:id="rId4"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air-quality-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Data, methods &amp; funding route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Datasets and models are also listed with licences in THIRD_PARTY.md.</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VAYUDRISHTI</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13</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[5]</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Earth Engine data catalogue</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Sentinel-5P TROPOMI NO2 (COPERNICUS/S5P/OFFL/L3_NO2); NASA FIRMS, MAIAC AOD, ERA5-Land and GFS are also catalogued.</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Dataset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[6]</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Crilley et al. (2018)</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“Evaluation of a low-cost optical particle counter (Alphasense OPC-N2) for ambient air monitoring.” Atmos. Meas. Tech. 11, 709–720. Basis of the κ-Köhler humidity correction.</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Paper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[7]</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Gemini 2.5 Flash on Vertex AI</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Google Cloud model documentation for the model used for photo verification, action briefs and advisories.</a:t>
            </a:r>
            <a:endParaRPr lang="en-US" sz="1000" dirty="0"/>
          </a:p>
        </p:txBody>
      </p:sp>
      <p:sp>
        <p:nvSpPr>
          <p:cNvPr id="28" name="Text 24">
            <a:hlinkClick r:id="rId4"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Model docs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[8]</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PRANA: NCAP portal (CPCB)</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Portal for Regulation of Air-pollution in Non-Attainment cities: tracks city action plans under the National Clean Air Programme.</a:t>
            </a:r>
            <a:endParaRPr lang="en-US" sz="1000" dirty="0"/>
          </a:p>
        </p:txBody>
      </p:sp>
      <p:sp>
        <p:nvSpPr>
          <p:cNvPr id="33" name="Text 29">
            <a:hlinkClick r:id="rId5"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Official source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Spontom Enterprise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VayuDrishti: pitch deck</dc:title>
  <dc:subject>PptxGenJS Presentation</dc:subject>
  <dc:creator>Spontom Enterprise Private Limited</dc:creator>
  <cp:lastModifiedBy>Spontom Enterprise Private Limited</cp:lastModifiedBy>
  <cp:revision>1</cp:revision>
  <dcterms:created xsi:type="dcterms:W3CDTF">2026-09-30T18:04:01Z</dcterms:created>
  <dcterms:modified xsi:type="dcterms:W3CDTF">2026-09-30T18:04:01Z</dcterms:modified>
</cp:coreProperties>
</file>